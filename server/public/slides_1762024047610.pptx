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286000"/>
            <a:ext cx="8229600" cy="0"/>
          </a:xfrm>
          <a:prstGeom prst="rect">
            <a:avLst/>
          </a:prstGeom>
          <a:noFill/>
          <a:ln/>
        </p:spPr>
        <p:txBody>
          <a:bodyPr wrap="square" rtlCol="0" anchor="ctr"/>
          <a:lstStyle/>
          <a:p>
            <a:pPr algn="ctr" indent="0" marL="0">
              <a:buNone/>
            </a:pPr>
            <a:r>
              <a:rPr lang="en-US" sz="4000" b="1" dirty="0">
                <a:solidFill>
                  <a:srgbClr val="003366"/>
                </a:solidFill>
              </a:rPr>
              <a:t>AI in Healthcare</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Introduction to AI in Healthcare</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Transforming Patient Care</a:t>
            </a:r>
            <a:endParaRPr lang="en-US" sz="2000" dirty="0"/>
          </a:p>
        </p:txBody>
      </p:sp>
      <p:sp>
        <p:nvSpPr>
          <p:cNvPr id="4" name="Text 2"/>
          <p:cNvSpPr/>
          <p:nvPr/>
        </p:nvSpPr>
        <p:spPr>
          <a:xfrm>
            <a:off x="640080" y="1828800"/>
            <a:ext cx="7772400" cy="1645920"/>
          </a:xfrm>
          <a:prstGeom prst="rect">
            <a:avLst/>
          </a:prstGeom>
          <a:noFill/>
          <a:ln/>
        </p:spPr>
        <p:txBody>
          <a:bodyPr wrap="square" rtlCol="0" anchor="t">
            <a:spAutoFit/>
          </a:bodyPr>
          <a:lstStyle/>
          <a:p>
            <a:pPr indent="0" marL="0">
              <a:lnSpc>
                <a:spcPts val="2400"/>
              </a:lnSpc>
              <a:buNone/>
            </a:pPr>
            <a:r>
              <a:rPr lang="en-US" sz="1600" dirty="0">
                <a:solidFill>
                  <a:srgbClr val="333333"/>
                </a:solidFill>
              </a:rPr>
              <a:t>Artificial Intelligence (AI) is revolutionizing the healthcare industry by offering innovative solutions to complex challenges. From diagnostics to drug discovery, AI is enhancing efficiency, accuracy, and patient outcomes. This presentation explores key applications and benefits of AI in modern healthcare.</a:t>
            </a:r>
            <a:endParaRPr lang="en-US" sz="1600" dirty="0"/>
          </a:p>
        </p:txBody>
      </p:sp>
      <p:sp>
        <p:nvSpPr>
          <p:cNvPr id="5" name="Text 3"/>
          <p:cNvSpPr/>
          <p:nvPr/>
        </p:nvSpPr>
        <p:spPr>
          <a:xfrm>
            <a:off x="822960" y="4023360"/>
            <a:ext cx="6858000" cy="1737360"/>
          </a:xfrm>
          <a:prstGeom prst="rect">
            <a:avLst/>
          </a:prstGeom>
          <a:noFill/>
          <a:ln/>
        </p:spPr>
        <p:txBody>
          <a:bodyPr wrap="square" rtlCol="0" anchor="ctr"/>
          <a:lstStyle/>
          <a:p>
            <a:pPr marL="342900" indent="-342900">
              <a:lnSpc>
                <a:spcPts val="2200"/>
              </a:lnSpc>
              <a:buSzPct val="100000"/>
              <a:buChar char="•"/>
            </a:pPr>
            <a:r>
              <a:rPr lang="en-US" sz="1600" dirty="0">
                <a:solidFill>
                  <a:srgbClr val="111111"/>
                </a:solidFill>
              </a:rPr>
              <a:t>Improved Diagnostics</a:t>
            </a:r>
            <a:pPr indent="0" marL="0">
              <a:lnSpc>
                <a:spcPts val="2200"/>
              </a:lnSpc>
              <a:buNone/>
            </a:pPr>
            <a:r>
              <a:rPr lang="en-US" sz="1600" dirty="0">
                <a:solidFill>
                  <a:srgbClr val="111111"/>
                </a:solidFill>
              </a:rPr>
              <a:t>Personalized Treatment Plans</a:t>
            </a:r>
            <a:pPr indent="0" marL="0">
              <a:lnSpc>
                <a:spcPts val="2200"/>
              </a:lnSpc>
              <a:buNone/>
            </a:pPr>
            <a:r>
              <a:rPr lang="en-US" sz="1600" dirty="0">
                <a:solidFill>
                  <a:srgbClr val="111111"/>
                </a:solidFill>
              </a:rPr>
              <a:t>Streamlined Administrative Tasks</a:t>
            </a:r>
            <a:pPr indent="0" marL="0">
              <a:lnSpc>
                <a:spcPts val="2200"/>
              </a:lnSpc>
              <a:buNone/>
            </a:pPr>
            <a:r>
              <a:rPr lang="en-US" sz="1600" dirty="0">
                <a:solidFill>
                  <a:srgbClr val="111111"/>
                </a:solidFill>
              </a:rPr>
              <a:t>Accelerated Drug Discovery</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AI for Enhanced Diagnostics</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Early and Accurate Detection</a:t>
            </a:r>
            <a:endParaRPr lang="en-US" sz="2000" dirty="0"/>
          </a:p>
        </p:txBody>
      </p:sp>
      <p:sp>
        <p:nvSpPr>
          <p:cNvPr id="4" name="Text 2"/>
          <p:cNvSpPr/>
          <p:nvPr/>
        </p:nvSpPr>
        <p:spPr>
          <a:xfrm>
            <a:off x="640080" y="1828800"/>
            <a:ext cx="7772400" cy="1645920"/>
          </a:xfrm>
          <a:prstGeom prst="rect">
            <a:avLst/>
          </a:prstGeom>
          <a:noFill/>
          <a:ln/>
        </p:spPr>
        <p:txBody>
          <a:bodyPr wrap="square" rtlCol="0" anchor="t">
            <a:spAutoFit/>
          </a:bodyPr>
          <a:lstStyle/>
          <a:p>
            <a:pPr indent="0" marL="0">
              <a:lnSpc>
                <a:spcPts val="2400"/>
              </a:lnSpc>
              <a:buNone/>
            </a:pPr>
            <a:r>
              <a:rPr lang="en-US" sz="1600" dirty="0">
                <a:solidFill>
                  <a:srgbClr val="333333"/>
                </a:solidFill>
              </a:rPr>
              <a:t>AI algorithms excel at analyzing vast amounts of medical data, including images and patient records, to identify patterns that may be imperceptible to the human eye. This leads to earlier and more accurate diagnoses, enabling timely interventions and better prognoses.</a:t>
            </a:r>
            <a:endParaRPr lang="en-US" sz="1600" dirty="0"/>
          </a:p>
        </p:txBody>
      </p:sp>
      <p:sp>
        <p:nvSpPr>
          <p:cNvPr id="5" name="Text 3"/>
          <p:cNvSpPr/>
          <p:nvPr/>
        </p:nvSpPr>
        <p:spPr>
          <a:xfrm>
            <a:off x="822960" y="4023360"/>
            <a:ext cx="6858000" cy="1737360"/>
          </a:xfrm>
          <a:prstGeom prst="rect">
            <a:avLst/>
          </a:prstGeom>
          <a:noFill/>
          <a:ln/>
        </p:spPr>
        <p:txBody>
          <a:bodyPr wrap="square" rtlCol="0" anchor="ctr"/>
          <a:lstStyle/>
          <a:p>
            <a:pPr marL="342900" indent="-342900">
              <a:lnSpc>
                <a:spcPts val="2200"/>
              </a:lnSpc>
              <a:buSzPct val="100000"/>
              <a:buChar char="•"/>
            </a:pPr>
            <a:r>
              <a:rPr lang="en-US" sz="1600" dirty="0">
                <a:solidFill>
                  <a:srgbClr val="111111"/>
                </a:solidFill>
              </a:rPr>
              <a:t>Radiology Image Analysis (e.g., detecting tumors)</a:t>
            </a:r>
            <a:pPr indent="0" marL="0">
              <a:lnSpc>
                <a:spcPts val="2200"/>
              </a:lnSpc>
              <a:buNone/>
            </a:pPr>
            <a:r>
              <a:rPr lang="en-US" sz="1600" dirty="0">
                <a:solidFill>
                  <a:srgbClr val="111111"/>
                </a:solidFill>
              </a:rPr>
              <a:t>Pathology Slide Examination</a:t>
            </a:r>
            <a:pPr indent="0" marL="0">
              <a:lnSpc>
                <a:spcPts val="2200"/>
              </a:lnSpc>
              <a:buNone/>
            </a:pPr>
            <a:r>
              <a:rPr lang="en-US" sz="1600" dirty="0">
                <a:solidFill>
                  <a:srgbClr val="111111"/>
                </a:solidFill>
              </a:rPr>
              <a:t>Identifying Disease Outbreaks</a:t>
            </a:r>
            <a:pPr indent="0" marL="0">
              <a:lnSpc>
                <a:spcPts val="2200"/>
              </a:lnSpc>
              <a:buNone/>
            </a:pPr>
            <a:r>
              <a:rPr lang="en-US" sz="1600" dirty="0">
                <a:solidFill>
                  <a:srgbClr val="111111"/>
                </a:solidFill>
              </a:rPr>
              <a:t>Predicting Patient Risk Factors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Personalized Medicine with AI</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Tailoring Treatments to Individuals</a:t>
            </a:r>
            <a:endParaRPr lang="en-US" sz="2000" dirty="0"/>
          </a:p>
        </p:txBody>
      </p:sp>
      <p:sp>
        <p:nvSpPr>
          <p:cNvPr id="4" name="Text 2"/>
          <p:cNvSpPr/>
          <p:nvPr/>
        </p:nvSpPr>
        <p:spPr>
          <a:xfrm>
            <a:off x="640080" y="1828800"/>
            <a:ext cx="7772400" cy="1645920"/>
          </a:xfrm>
          <a:prstGeom prst="rect">
            <a:avLst/>
          </a:prstGeom>
          <a:noFill/>
          <a:ln/>
        </p:spPr>
        <p:txBody>
          <a:bodyPr wrap="square" rtlCol="0" anchor="t">
            <a:spAutoFit/>
          </a:bodyPr>
          <a:lstStyle/>
          <a:p>
            <a:pPr indent="0" marL="0">
              <a:lnSpc>
                <a:spcPts val="2400"/>
              </a:lnSpc>
              <a:buNone/>
            </a:pPr>
            <a:r>
              <a:rPr lang="en-US" sz="1600" dirty="0">
                <a:solidFill>
                  <a:srgbClr val="333333"/>
                </a:solidFill>
              </a:rPr>
              <a:t>AI enables the development of personalized treatment plans by analyzing a patient's genetic makeup, lifestyle, and medical history. This allows healthcare providers to select the most effective therapies, minimize side effects, and optimize treatment outcomes for each individual.</a:t>
            </a:r>
            <a:endParaRPr lang="en-US" sz="1600" dirty="0"/>
          </a:p>
        </p:txBody>
      </p:sp>
      <p:sp>
        <p:nvSpPr>
          <p:cNvPr id="5" name="Text 3"/>
          <p:cNvSpPr/>
          <p:nvPr/>
        </p:nvSpPr>
        <p:spPr>
          <a:xfrm>
            <a:off x="822960" y="4023360"/>
            <a:ext cx="6858000" cy="1737360"/>
          </a:xfrm>
          <a:prstGeom prst="rect">
            <a:avLst/>
          </a:prstGeom>
          <a:noFill/>
          <a:ln/>
        </p:spPr>
        <p:txBody>
          <a:bodyPr wrap="square" rtlCol="0" anchor="ctr"/>
          <a:lstStyle/>
          <a:p>
            <a:pPr marL="342900" indent="-342900">
              <a:lnSpc>
                <a:spcPts val="2200"/>
              </a:lnSpc>
              <a:buSzPct val="100000"/>
              <a:buChar char="•"/>
            </a:pPr>
            <a:r>
              <a:rPr lang="en-US" sz="1600" dirty="0">
                <a:solidFill>
                  <a:srgbClr val="111111"/>
                </a:solidFill>
              </a:rPr>
              <a:t>Genomic Data Analysis for Targeted Therapies</a:t>
            </a:r>
            <a:pPr indent="0" marL="0">
              <a:lnSpc>
                <a:spcPts val="2200"/>
              </a:lnSpc>
              <a:buNone/>
            </a:pPr>
            <a:r>
              <a:rPr lang="en-US" sz="1600" dirty="0">
                <a:solidFill>
                  <a:srgbClr val="111111"/>
                </a:solidFill>
              </a:rPr>
              <a:t>Predicting Treatment Response</a:t>
            </a:r>
            <a:pPr indent="0" marL="0">
              <a:lnSpc>
                <a:spcPts val="2200"/>
              </a:lnSpc>
              <a:buNone/>
            </a:pPr>
            <a:r>
              <a:rPr lang="en-US" sz="1600" dirty="0">
                <a:solidFill>
                  <a:srgbClr val="111111"/>
                </a:solidFill>
              </a:rPr>
              <a:t>Optimizing Drug Dosages</a:t>
            </a:r>
            <a:pPr indent="0" marL="0">
              <a:lnSpc>
                <a:spcPts val="2200"/>
              </a:lnSpc>
              <a:buNone/>
            </a:pPr>
            <a:r>
              <a:rPr lang="en-US" sz="1600" dirty="0">
                <a:solidFill>
                  <a:srgbClr val="111111"/>
                </a:solidFill>
              </a:rPr>
              <a:t>Developing Precision Medicine Approaches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AI in Drug Discovery and Development</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Accelerating Innovation</a:t>
            </a:r>
            <a:endParaRPr lang="en-US" sz="2000" dirty="0"/>
          </a:p>
        </p:txBody>
      </p:sp>
      <p:sp>
        <p:nvSpPr>
          <p:cNvPr id="4" name="Text 2"/>
          <p:cNvSpPr/>
          <p:nvPr/>
        </p:nvSpPr>
        <p:spPr>
          <a:xfrm>
            <a:off x="640080" y="1828800"/>
            <a:ext cx="7772400" cy="1645920"/>
          </a:xfrm>
          <a:prstGeom prst="rect">
            <a:avLst/>
          </a:prstGeom>
          <a:noFill/>
          <a:ln/>
        </p:spPr>
        <p:txBody>
          <a:bodyPr wrap="square" rtlCol="0" anchor="t">
            <a:spAutoFit/>
          </a:bodyPr>
          <a:lstStyle/>
          <a:p>
            <a:pPr indent="0" marL="0">
              <a:lnSpc>
                <a:spcPts val="2400"/>
              </a:lnSpc>
              <a:buNone/>
            </a:pPr>
            <a:r>
              <a:rPr lang="en-US" sz="1600" dirty="0">
                <a:solidFill>
                  <a:srgbClr val="333333"/>
                </a:solidFill>
              </a:rPr>
              <a:t>The process of discovering and developing new drugs is traditionally lengthy and expensive. AI significantly speeds up this process by identifying potential drug candidates, predicting their efficacy and safety, and optimizing clinical trial designs. This leads to faster availability of life-saving medications.</a:t>
            </a:r>
            <a:endParaRPr lang="en-US" sz="1600" dirty="0"/>
          </a:p>
        </p:txBody>
      </p:sp>
      <p:sp>
        <p:nvSpPr>
          <p:cNvPr id="5" name="Text 3"/>
          <p:cNvSpPr/>
          <p:nvPr/>
        </p:nvSpPr>
        <p:spPr>
          <a:xfrm>
            <a:off x="822960" y="4023360"/>
            <a:ext cx="6858000" cy="1737360"/>
          </a:xfrm>
          <a:prstGeom prst="rect">
            <a:avLst/>
          </a:prstGeom>
          <a:noFill/>
          <a:ln/>
        </p:spPr>
        <p:txBody>
          <a:bodyPr wrap="square" rtlCol="0" anchor="ctr"/>
          <a:lstStyle/>
          <a:p>
            <a:pPr marL="342900" indent="-342900">
              <a:lnSpc>
                <a:spcPts val="2200"/>
              </a:lnSpc>
              <a:buSzPct val="100000"/>
              <a:buChar char="•"/>
            </a:pPr>
            <a:r>
              <a:rPr lang="en-US" sz="1600" dirty="0">
                <a:solidFill>
                  <a:srgbClr val="111111"/>
                </a:solidFill>
              </a:rPr>
              <a:t>Identifying Novel Drug Targets</a:t>
            </a:r>
            <a:pPr indent="0" marL="0">
              <a:lnSpc>
                <a:spcPts val="2200"/>
              </a:lnSpc>
              <a:buNone/>
            </a:pPr>
            <a:r>
              <a:rPr lang="en-US" sz="1600" dirty="0">
                <a:solidFill>
                  <a:srgbClr val="111111"/>
                </a:solidFill>
              </a:rPr>
              <a:t>Predicting Molecular Interactions</a:t>
            </a:r>
            <a:pPr indent="0" marL="0">
              <a:lnSpc>
                <a:spcPts val="2200"/>
              </a:lnSpc>
              <a:buNone/>
            </a:pPr>
            <a:r>
              <a:rPr lang="en-US" sz="1600" dirty="0">
                <a:solidFill>
                  <a:srgbClr val="111111"/>
                </a:solidFill>
              </a:rPr>
              <a:t>Designing New Drug Compounds</a:t>
            </a:r>
            <a:pPr indent="0" marL="0">
              <a:lnSpc>
                <a:spcPts val="2200"/>
              </a:lnSpc>
              <a:buNone/>
            </a:pPr>
            <a:r>
              <a:rPr lang="en-US" sz="1600" dirty="0">
                <a:solidFill>
                  <a:srgbClr val="111111"/>
                </a:solidFill>
              </a:rPr>
              <a:t>Optimizing Clinical Trial Recruitment</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Challenges and Future of AI in Healthcare</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Navigating the Path Forward</a:t>
            </a:r>
            <a:endParaRPr lang="en-US" sz="2000" dirty="0"/>
          </a:p>
        </p:txBody>
      </p:sp>
      <p:sp>
        <p:nvSpPr>
          <p:cNvPr id="4" name="Text 2"/>
          <p:cNvSpPr/>
          <p:nvPr/>
        </p:nvSpPr>
        <p:spPr>
          <a:xfrm>
            <a:off x="640080" y="1828800"/>
            <a:ext cx="7772400" cy="1645920"/>
          </a:xfrm>
          <a:prstGeom prst="rect">
            <a:avLst/>
          </a:prstGeom>
          <a:noFill/>
          <a:ln/>
        </p:spPr>
        <p:txBody>
          <a:bodyPr wrap="square" rtlCol="0" anchor="t">
            <a:spAutoFit/>
          </a:bodyPr>
          <a:lstStyle/>
          <a:p>
            <a:pPr indent="0" marL="0">
              <a:lnSpc>
                <a:spcPts val="2400"/>
              </a:lnSpc>
              <a:buNone/>
            </a:pPr>
            <a:r>
              <a:rPr lang="en-US" sz="1600" dirty="0">
                <a:solidFill>
                  <a:srgbClr val="333333"/>
                </a:solidFill>
              </a:rPr>
              <a:t>While AI offers immense potential in healthcare, several challenges need to be addressed, including data privacy, regulatory hurdles, and the need for robust validation. However, ongoing advancements promise to further integrate AI into healthcare, leading to more accessible, efficient, and effective medical care for all.</a:t>
            </a:r>
            <a:endParaRPr lang="en-US" sz="1600" dirty="0"/>
          </a:p>
        </p:txBody>
      </p:sp>
      <p:sp>
        <p:nvSpPr>
          <p:cNvPr id="5" name="Text 3"/>
          <p:cNvSpPr/>
          <p:nvPr/>
        </p:nvSpPr>
        <p:spPr>
          <a:xfrm>
            <a:off x="822960" y="4023360"/>
            <a:ext cx="6858000" cy="1737360"/>
          </a:xfrm>
          <a:prstGeom prst="rect">
            <a:avLst/>
          </a:prstGeom>
          <a:noFill/>
          <a:ln/>
        </p:spPr>
        <p:txBody>
          <a:bodyPr wrap="square" rtlCol="0" anchor="ctr"/>
          <a:lstStyle/>
          <a:p>
            <a:pPr marL="342900" indent="-342900">
              <a:lnSpc>
                <a:spcPts val="2200"/>
              </a:lnSpc>
              <a:buSzPct val="100000"/>
              <a:buChar char="•"/>
            </a:pPr>
            <a:r>
              <a:rPr lang="en-US" sz="1600" dirty="0">
                <a:solidFill>
                  <a:srgbClr val="111111"/>
                </a:solidFill>
              </a:rPr>
              <a:t>Data Security and Privacy Concerns</a:t>
            </a:r>
            <a:pPr indent="0" marL="0">
              <a:lnSpc>
                <a:spcPts val="2200"/>
              </a:lnSpc>
              <a:buNone/>
            </a:pPr>
            <a:r>
              <a:rPr lang="en-US" sz="1600" dirty="0">
                <a:solidFill>
                  <a:srgbClr val="111111"/>
                </a:solidFill>
              </a:rPr>
              <a:t>Regulatory Approval Processes</a:t>
            </a:r>
            <a:pPr indent="0" marL="0">
              <a:lnSpc>
                <a:spcPts val="2200"/>
              </a:lnSpc>
              <a:buNone/>
            </a:pPr>
            <a:r>
              <a:rPr lang="en-US" sz="1600" dirty="0">
                <a:solidFill>
                  <a:srgbClr val="111111"/>
                </a:solidFill>
              </a:rPr>
              <a:t>Ethical Considerations and Bias</a:t>
            </a:r>
            <a:pPr indent="0" marL="0">
              <a:lnSpc>
                <a:spcPts val="2200"/>
              </a:lnSpc>
              <a:buNone/>
            </a:pPr>
            <a:r>
              <a:rPr lang="en-US" sz="1600" dirty="0">
                <a:solidFill>
                  <a:srgbClr val="111111"/>
                </a:solidFill>
              </a:rPr>
              <a:t>Integration with Existing Healthcare Systems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2025-11-01T19:07:27Z</dcterms:created>
  <dcterms:modified xsi:type="dcterms:W3CDTF">2025-11-01T19:07:27Z</dcterms:modified>
</cp:coreProperties>
</file>