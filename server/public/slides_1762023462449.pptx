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000" b="1" dirty="0">
                <a:solidFill>
                  <a:srgbClr val="003366"/>
                </a:solidFill>
              </a:rPr>
              <a:t>AI in Healthcare</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0"/>
          </a:xfrm>
          <a:prstGeom prst="rect">
            <a:avLst/>
          </a:prstGeom>
          <a:noFill/>
          <a:ln/>
        </p:spPr>
        <p:txBody>
          <a:bodyPr wrap="square" rtlCol="0" anchor="ctr"/>
          <a:lstStyle/>
          <a:p>
            <a:pPr algn="ctr" indent="0" marL="0">
              <a:buNone/>
            </a:pPr>
            <a:r>
              <a:rPr lang="en-US" sz="2800" b="1" dirty="0">
                <a:solidFill>
                  <a:srgbClr val="003366"/>
                </a:solidFill>
              </a:rPr>
              <a:t>Introduction to AI in Healthcare</a:t>
            </a:r>
            <a:endParaRPr lang="en-US" sz="2800" dirty="0"/>
          </a:p>
        </p:txBody>
      </p:sp>
      <p:sp>
        <p:nvSpPr>
          <p:cNvPr id="3" name="Text 1"/>
          <p:cNvSpPr/>
          <p:nvPr/>
        </p:nvSpPr>
        <p:spPr>
          <a:xfrm>
            <a:off x="640080" y="1280160"/>
            <a:ext cx="7315200" cy="0"/>
          </a:xfrm>
          <a:prstGeom prst="rect">
            <a:avLst/>
          </a:prstGeom>
          <a:noFill/>
          <a:ln/>
        </p:spPr>
        <p:txBody>
          <a:bodyPr wrap="square" rtlCol="0" anchor="ctr"/>
          <a:lstStyle/>
          <a:p>
            <a:pPr indent="0" marL="0">
              <a:buNone/>
            </a:pPr>
            <a:r>
              <a:rPr lang="en-US" sz="2200" b="1" dirty="0">
                <a:solidFill>
                  <a:srgbClr val="0055A5"/>
                </a:solidFill>
              </a:rPr>
              <a:t>Transforming Patient Care</a:t>
            </a:r>
            <a:endParaRPr lang="en-US" sz="2200" dirty="0"/>
          </a:p>
        </p:txBody>
      </p:sp>
      <p:sp>
        <p:nvSpPr>
          <p:cNvPr id="4" name="Text 2"/>
          <p:cNvSpPr txBox="1"/>
          <p:nvPr/>
        </p:nvSpPr>
        <p:spPr>
          <a:xfrm>
            <a:off x="640080" y="1828800"/>
            <a:ext cx="7315200" cy="3200400"/>
          </a:xfrm>
          <a:prstGeom prst="rect">
            <a:avLst/>
          </a:prstGeom>
          <a:noFill/>
          <a:ln/>
        </p:spPr>
        <p:txBody>
          <a:bodyPr wrap="square" rtlCol="0" anchor="t">
            <a:spAutoFit/>
          </a:bodyPr>
          <a:lstStyle/>
          <a:p>
            <a:pPr indent="0" marL="0">
              <a:lnSpc>
                <a:spcPts val="2000"/>
              </a:lnSpc>
              <a:buNone/>
            </a:pPr>
            <a:r>
              <a:rPr lang="en-US" sz="1600" dirty="0">
                <a:solidFill>
                  <a:srgbClr val="333333"/>
                </a:solidFill>
              </a:rPr>
              <a:t>Artificial Intelligence (AI) is rapidly revolutionizing the healthcare industry by offering innovative solutions to complex challenges. From diagnostics to drug discovery, AI is enhancing efficiency, accuracy, and personalization in patient care, ultimately leading to better health outcomes.</a:t>
            </a:r>
            <a:endParaRPr lang="en-US" sz="1600" dirty="0"/>
          </a:p>
        </p:txBody>
      </p:sp>
      <p:sp>
        <p:nvSpPr>
          <p:cNvPr id="5" name="Text 3"/>
          <p:cNvSpPr/>
          <p:nvPr/>
        </p:nvSpPr>
        <p:spPr>
          <a:xfrm>
            <a:off x="822960" y="2926080"/>
            <a:ext cx="7315200" cy="0"/>
          </a:xfrm>
          <a:prstGeom prst="rect">
            <a:avLst/>
          </a:prstGeom>
          <a:noFill/>
          <a:ln/>
        </p:spPr>
        <p:txBody>
          <a:bodyPr wrap="square" rtlCol="0" anchor="ctr"/>
          <a:lstStyle/>
          <a:p>
            <a:pPr marL="342900" indent="-342900">
              <a:lnSpc>
                <a:spcPts val="1800"/>
              </a:lnSpc>
              <a:buSzPct val="100000"/>
              <a:buChar char="•"/>
            </a:pPr>
            <a:r>
              <a:rPr lang="en-US" sz="1600" dirty="0">
                <a:solidFill>
                  <a:srgbClr val="111111"/>
                </a:solidFill>
              </a:rPr>
              <a:t>• Improved diagnostic accuracy</a:t>
            </a:r>
            <a:endParaRPr lang="en-US" sz="1600" dirty="0"/>
          </a:p>
          <a:p>
            <a:pPr marL="342900" indent="-342900">
              <a:lnSpc>
                <a:spcPts val="1800"/>
              </a:lnSpc>
              <a:buSzPct val="100000"/>
              <a:buChar char="•"/>
            </a:pPr>
            <a:r>
              <a:rPr lang="en-US" sz="1600" dirty="0">
                <a:solidFill>
                  <a:srgbClr val="111111"/>
                </a:solidFill>
              </a:rPr>
              <a:t>• Personalized treatment plans</a:t>
            </a:r>
            <a:endParaRPr lang="en-US" sz="1600" dirty="0"/>
          </a:p>
          <a:p>
            <a:pPr marL="342900" indent="-342900">
              <a:lnSpc>
                <a:spcPts val="1800"/>
              </a:lnSpc>
              <a:buSzPct val="100000"/>
              <a:buChar char="•"/>
            </a:pPr>
            <a:r>
              <a:rPr lang="en-US" sz="1600" dirty="0">
                <a:solidFill>
                  <a:srgbClr val="111111"/>
                </a:solidFill>
              </a:rPr>
              <a:t>• Accelerated drug discovery</a:t>
            </a:r>
            <a:endParaRPr lang="en-US" sz="1600" dirty="0"/>
          </a:p>
          <a:p>
            <a:pPr marL="342900" indent="-342900">
              <a:lnSpc>
                <a:spcPts val="1800"/>
              </a:lnSpc>
              <a:buSzPct val="100000"/>
              <a:buChar char="•"/>
            </a:pPr>
            <a:r>
              <a:rPr lang="en-US" sz="1600" dirty="0">
                <a:solidFill>
                  <a:srgbClr val="111111"/>
                </a:solidFill>
              </a:rPr>
              <a:t>• Enhanced operational efficiency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0"/>
          </a:xfrm>
          <a:prstGeom prst="rect">
            <a:avLst/>
          </a:prstGeom>
          <a:noFill/>
          <a:ln/>
        </p:spPr>
        <p:txBody>
          <a:bodyPr wrap="square" rtlCol="0" anchor="ctr"/>
          <a:lstStyle/>
          <a:p>
            <a:pPr algn="ctr" indent="0" marL="0">
              <a:buNone/>
            </a:pPr>
            <a:r>
              <a:rPr lang="en-US" sz="2800" b="1" dirty="0">
                <a:solidFill>
                  <a:srgbClr val="003366"/>
                </a:solidFill>
              </a:rPr>
              <a:t>AI for Diagnostics and Imaging</a:t>
            </a:r>
            <a:endParaRPr lang="en-US" sz="2800" dirty="0"/>
          </a:p>
        </p:txBody>
      </p:sp>
      <p:sp>
        <p:nvSpPr>
          <p:cNvPr id="3" name="Text 1"/>
          <p:cNvSpPr/>
          <p:nvPr/>
        </p:nvSpPr>
        <p:spPr>
          <a:xfrm>
            <a:off x="640080" y="1280160"/>
            <a:ext cx="7315200" cy="0"/>
          </a:xfrm>
          <a:prstGeom prst="rect">
            <a:avLst/>
          </a:prstGeom>
          <a:noFill/>
          <a:ln/>
        </p:spPr>
        <p:txBody>
          <a:bodyPr wrap="square" rtlCol="0" anchor="ctr"/>
          <a:lstStyle/>
          <a:p>
            <a:pPr indent="0" marL="0">
              <a:buNone/>
            </a:pPr>
            <a:r>
              <a:rPr lang="en-US" sz="2200" b="1" dirty="0">
                <a:solidFill>
                  <a:srgbClr val="0055A5"/>
                </a:solidFill>
              </a:rPr>
              <a:t>Early Detection and Precise Analysis</a:t>
            </a:r>
            <a:endParaRPr lang="en-US" sz="2200" dirty="0"/>
          </a:p>
        </p:txBody>
      </p:sp>
      <p:sp>
        <p:nvSpPr>
          <p:cNvPr id="4" name="Text 2"/>
          <p:cNvSpPr txBox="1"/>
          <p:nvPr/>
        </p:nvSpPr>
        <p:spPr>
          <a:xfrm>
            <a:off x="640080" y="1828800"/>
            <a:ext cx="7315200" cy="3200400"/>
          </a:xfrm>
          <a:prstGeom prst="rect">
            <a:avLst/>
          </a:prstGeom>
          <a:noFill/>
          <a:ln/>
        </p:spPr>
        <p:txBody>
          <a:bodyPr wrap="square" rtlCol="0" anchor="t">
            <a:spAutoFit/>
          </a:bodyPr>
          <a:lstStyle/>
          <a:p>
            <a:pPr indent="0" marL="0">
              <a:lnSpc>
                <a:spcPts val="2000"/>
              </a:lnSpc>
              <a:buNone/>
            </a:pPr>
            <a:r>
              <a:rPr lang="en-US" sz="1600" dirty="0">
                <a:solidFill>
                  <a:srgbClr val="333333"/>
                </a:solidFill>
              </a:rPr>
              <a:t>AI algorithms excel at analyzing medical images such as X-rays, CT scans, and MRIs. They can identify subtle patterns and anomalies that might be missed by the human eye, leading to earlier and more accurate diagnoses of diseases like cancer, diabetic retinopathy, and cardiovascular conditions.</a:t>
            </a:r>
            <a:endParaRPr lang="en-US" sz="1600" dirty="0"/>
          </a:p>
        </p:txBody>
      </p:sp>
      <p:sp>
        <p:nvSpPr>
          <p:cNvPr id="5" name="Text 3"/>
          <p:cNvSpPr/>
          <p:nvPr/>
        </p:nvSpPr>
        <p:spPr>
          <a:xfrm>
            <a:off x="822960" y="2926080"/>
            <a:ext cx="7315200" cy="0"/>
          </a:xfrm>
          <a:prstGeom prst="rect">
            <a:avLst/>
          </a:prstGeom>
          <a:noFill/>
          <a:ln/>
        </p:spPr>
        <p:txBody>
          <a:bodyPr wrap="square" rtlCol="0" anchor="ctr"/>
          <a:lstStyle/>
          <a:p>
            <a:pPr marL="342900" indent="-342900">
              <a:lnSpc>
                <a:spcPts val="1800"/>
              </a:lnSpc>
              <a:buSzPct val="100000"/>
              <a:buChar char="•"/>
            </a:pPr>
            <a:r>
              <a:rPr lang="en-US" sz="1600" dirty="0">
                <a:solidFill>
                  <a:srgbClr val="111111"/>
                </a:solidFill>
              </a:rPr>
              <a:t>• Automated anomaly detection</a:t>
            </a:r>
            <a:endParaRPr lang="en-US" sz="1600" dirty="0"/>
          </a:p>
          <a:p>
            <a:pPr marL="342900" indent="-342900">
              <a:lnSpc>
                <a:spcPts val="1800"/>
              </a:lnSpc>
              <a:buSzPct val="100000"/>
              <a:buChar char="•"/>
            </a:pPr>
            <a:r>
              <a:rPr lang="en-US" sz="1600" dirty="0">
                <a:solidFill>
                  <a:srgbClr val="111111"/>
                </a:solidFill>
              </a:rPr>
              <a:t>• Quantification of disease progression</a:t>
            </a:r>
            <a:endParaRPr lang="en-US" sz="1600" dirty="0"/>
          </a:p>
          <a:p>
            <a:pPr marL="342900" indent="-342900">
              <a:lnSpc>
                <a:spcPts val="1800"/>
              </a:lnSpc>
              <a:buSzPct val="100000"/>
              <a:buChar char="•"/>
            </a:pPr>
            <a:r>
              <a:rPr lang="en-US" sz="1600" dirty="0">
                <a:solidFill>
                  <a:srgbClr val="111111"/>
                </a:solidFill>
              </a:rPr>
              <a:t>• Reduced radiologist workload</a:t>
            </a:r>
            <a:endParaRPr lang="en-US" sz="1600" dirty="0"/>
          </a:p>
          <a:p>
            <a:pPr marL="342900" indent="-342900">
              <a:lnSpc>
                <a:spcPts val="1800"/>
              </a:lnSpc>
              <a:buSzPct val="100000"/>
              <a:buChar char="•"/>
            </a:pPr>
            <a:r>
              <a:rPr lang="en-US" sz="1600" dirty="0">
                <a:solidFill>
                  <a:srgbClr val="111111"/>
                </a:solidFill>
              </a:rPr>
              <a:t>• Improved diagnostic speed</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0"/>
          </a:xfrm>
          <a:prstGeom prst="rect">
            <a:avLst/>
          </a:prstGeom>
          <a:noFill/>
          <a:ln/>
        </p:spPr>
        <p:txBody>
          <a:bodyPr wrap="square" rtlCol="0" anchor="ctr"/>
          <a:lstStyle/>
          <a:p>
            <a:pPr algn="ctr" indent="0" marL="0">
              <a:buNone/>
            </a:pPr>
            <a:r>
              <a:rPr lang="en-US" sz="2800" b="1" dirty="0">
                <a:solidFill>
                  <a:srgbClr val="003366"/>
                </a:solidFill>
              </a:rPr>
              <a:t>AI in Drug Discovery and Development</a:t>
            </a:r>
            <a:endParaRPr lang="en-US" sz="2800" dirty="0"/>
          </a:p>
        </p:txBody>
      </p:sp>
      <p:sp>
        <p:nvSpPr>
          <p:cNvPr id="3" name="Text 1"/>
          <p:cNvSpPr/>
          <p:nvPr/>
        </p:nvSpPr>
        <p:spPr>
          <a:xfrm>
            <a:off x="640080" y="1280160"/>
            <a:ext cx="7315200" cy="0"/>
          </a:xfrm>
          <a:prstGeom prst="rect">
            <a:avLst/>
          </a:prstGeom>
          <a:noFill/>
          <a:ln/>
        </p:spPr>
        <p:txBody>
          <a:bodyPr wrap="square" rtlCol="0" anchor="ctr"/>
          <a:lstStyle/>
          <a:p>
            <a:pPr indent="0" marL="0">
              <a:buNone/>
            </a:pPr>
            <a:r>
              <a:rPr lang="en-US" sz="2200" b="1" dirty="0">
                <a:solidFill>
                  <a:srgbClr val="0055A5"/>
                </a:solidFill>
              </a:rPr>
              <a:t>Accelerating Innovation</a:t>
            </a:r>
            <a:endParaRPr lang="en-US" sz="2200" dirty="0"/>
          </a:p>
        </p:txBody>
      </p:sp>
      <p:sp>
        <p:nvSpPr>
          <p:cNvPr id="4" name="Text 2"/>
          <p:cNvSpPr txBox="1"/>
          <p:nvPr/>
        </p:nvSpPr>
        <p:spPr>
          <a:xfrm>
            <a:off x="640080" y="1828800"/>
            <a:ext cx="7315200" cy="3200400"/>
          </a:xfrm>
          <a:prstGeom prst="rect">
            <a:avLst/>
          </a:prstGeom>
          <a:noFill/>
          <a:ln/>
        </p:spPr>
        <p:txBody>
          <a:bodyPr wrap="square" rtlCol="0" anchor="t">
            <a:spAutoFit/>
          </a:bodyPr>
          <a:lstStyle/>
          <a:p>
            <a:pPr indent="0" marL="0">
              <a:lnSpc>
                <a:spcPts val="2000"/>
              </a:lnSpc>
              <a:buNone/>
            </a:pPr>
            <a:r>
              <a:rPr lang="en-US" sz="1600" dirty="0">
                <a:solidFill>
                  <a:srgbClr val="333333"/>
                </a:solidFill>
              </a:rPr>
              <a:t>The process of discovering and developing new drugs is notoriously long and expensive. AI can significantly speed this up by analyzing vast datasets of biological and chemical information, predicting the efficacy and safety of potential drug candidates, and identifying novel therapeutic targets.</a:t>
            </a:r>
            <a:endParaRPr lang="en-US" sz="1600" dirty="0"/>
          </a:p>
        </p:txBody>
      </p:sp>
      <p:sp>
        <p:nvSpPr>
          <p:cNvPr id="5" name="Text 3"/>
          <p:cNvSpPr/>
          <p:nvPr/>
        </p:nvSpPr>
        <p:spPr>
          <a:xfrm>
            <a:off x="822960" y="2926080"/>
            <a:ext cx="7315200" cy="0"/>
          </a:xfrm>
          <a:prstGeom prst="rect">
            <a:avLst/>
          </a:prstGeom>
          <a:noFill/>
          <a:ln/>
        </p:spPr>
        <p:txBody>
          <a:bodyPr wrap="square" rtlCol="0" anchor="ctr"/>
          <a:lstStyle/>
          <a:p>
            <a:pPr marL="342900" indent="-342900">
              <a:lnSpc>
                <a:spcPts val="1800"/>
              </a:lnSpc>
              <a:buSzPct val="100000"/>
              <a:buChar char="•"/>
            </a:pPr>
            <a:r>
              <a:rPr lang="en-US" sz="1600" dirty="0">
                <a:solidFill>
                  <a:srgbClr val="111111"/>
                </a:solidFill>
              </a:rPr>
              <a:t>• Identifying new drug targets</a:t>
            </a:r>
            <a:endParaRPr lang="en-US" sz="1600" dirty="0"/>
          </a:p>
          <a:p>
            <a:pPr marL="342900" indent="-342900">
              <a:lnSpc>
                <a:spcPts val="1800"/>
              </a:lnSpc>
              <a:buSzPct val="100000"/>
              <a:buChar char="•"/>
            </a:pPr>
            <a:r>
              <a:rPr lang="en-US" sz="1600" dirty="0">
                <a:solidFill>
                  <a:srgbClr val="111111"/>
                </a:solidFill>
              </a:rPr>
              <a:t>• Predicting drug-target interactions</a:t>
            </a:r>
            <a:endParaRPr lang="en-US" sz="1600" dirty="0"/>
          </a:p>
          <a:p>
            <a:pPr marL="342900" indent="-342900">
              <a:lnSpc>
                <a:spcPts val="1800"/>
              </a:lnSpc>
              <a:buSzPct val="100000"/>
              <a:buChar char="•"/>
            </a:pPr>
            <a:r>
              <a:rPr lang="en-US" sz="1600" dirty="0">
                <a:solidFill>
                  <a:srgbClr val="111111"/>
                </a:solidFill>
              </a:rPr>
              <a:t>• Optimizing clinical trial design</a:t>
            </a:r>
            <a:endParaRPr lang="en-US" sz="1600" dirty="0"/>
          </a:p>
          <a:p>
            <a:pPr marL="342900" indent="-342900">
              <a:lnSpc>
                <a:spcPts val="1800"/>
              </a:lnSpc>
              <a:buSzPct val="100000"/>
              <a:buChar char="•"/>
            </a:pPr>
            <a:r>
              <a:rPr lang="en-US" sz="1600" dirty="0">
                <a:solidFill>
                  <a:srgbClr val="111111"/>
                </a:solidFill>
              </a:rPr>
              <a:t>• Repurposing existing drugs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0"/>
          </a:xfrm>
          <a:prstGeom prst="rect">
            <a:avLst/>
          </a:prstGeom>
          <a:noFill/>
          <a:ln/>
        </p:spPr>
        <p:txBody>
          <a:bodyPr wrap="square" rtlCol="0" anchor="ctr"/>
          <a:lstStyle/>
          <a:p>
            <a:pPr algn="ctr" indent="0" marL="0">
              <a:buNone/>
            </a:pPr>
            <a:r>
              <a:rPr lang="en-US" sz="2800" b="1" dirty="0">
                <a:solidFill>
                  <a:srgbClr val="003366"/>
                </a:solidFill>
              </a:rPr>
              <a:t>Personalized Medicine with AI</a:t>
            </a:r>
            <a:endParaRPr lang="en-US" sz="2800" dirty="0"/>
          </a:p>
        </p:txBody>
      </p:sp>
      <p:sp>
        <p:nvSpPr>
          <p:cNvPr id="3" name="Text 1"/>
          <p:cNvSpPr/>
          <p:nvPr/>
        </p:nvSpPr>
        <p:spPr>
          <a:xfrm>
            <a:off x="640080" y="1280160"/>
            <a:ext cx="7315200" cy="0"/>
          </a:xfrm>
          <a:prstGeom prst="rect">
            <a:avLst/>
          </a:prstGeom>
          <a:noFill/>
          <a:ln/>
        </p:spPr>
        <p:txBody>
          <a:bodyPr wrap="square" rtlCol="0" anchor="ctr"/>
          <a:lstStyle/>
          <a:p>
            <a:pPr indent="0" marL="0">
              <a:buNone/>
            </a:pPr>
            <a:r>
              <a:rPr lang="en-US" sz="2200" b="1" dirty="0">
                <a:solidFill>
                  <a:srgbClr val="0055A5"/>
                </a:solidFill>
              </a:rPr>
              <a:t>Tailoring Treatments to Individuals</a:t>
            </a:r>
            <a:endParaRPr lang="en-US" sz="2200" dirty="0"/>
          </a:p>
        </p:txBody>
      </p:sp>
      <p:sp>
        <p:nvSpPr>
          <p:cNvPr id="4" name="Text 2"/>
          <p:cNvSpPr txBox="1"/>
          <p:nvPr/>
        </p:nvSpPr>
        <p:spPr>
          <a:xfrm>
            <a:off x="640080" y="1828800"/>
            <a:ext cx="7315200" cy="3200400"/>
          </a:xfrm>
          <a:prstGeom prst="rect">
            <a:avLst/>
          </a:prstGeom>
          <a:noFill/>
          <a:ln/>
        </p:spPr>
        <p:txBody>
          <a:bodyPr wrap="square" rtlCol="0" anchor="t">
            <a:spAutoFit/>
          </a:bodyPr>
          <a:lstStyle/>
          <a:p>
            <a:pPr indent="0" marL="0">
              <a:lnSpc>
                <a:spcPts val="2000"/>
              </a:lnSpc>
              <a:buNone/>
            </a:pPr>
            <a:r>
              <a:rPr lang="en-US" sz="1600" dirty="0">
                <a:solidFill>
                  <a:srgbClr val="333333"/>
                </a:solidFill>
              </a:rPr>
              <a:t>AI enables a shift towards personalized medicine by analyzing an individual's genetic makeup, lifestyle, and medical history. This allows for the creation of highly customized treatment plans, optimizing drug dosages, and predicting patient responses to therapies, thereby minimizing side effects and maximizing effectiveness.</a:t>
            </a:r>
            <a:endParaRPr lang="en-US" sz="1600" dirty="0"/>
          </a:p>
        </p:txBody>
      </p:sp>
      <p:sp>
        <p:nvSpPr>
          <p:cNvPr id="5" name="Text 3"/>
          <p:cNvSpPr/>
          <p:nvPr/>
        </p:nvSpPr>
        <p:spPr>
          <a:xfrm>
            <a:off x="822960" y="2926080"/>
            <a:ext cx="7315200" cy="0"/>
          </a:xfrm>
          <a:prstGeom prst="rect">
            <a:avLst/>
          </a:prstGeom>
          <a:noFill/>
          <a:ln/>
        </p:spPr>
        <p:txBody>
          <a:bodyPr wrap="square" rtlCol="0" anchor="ctr"/>
          <a:lstStyle/>
          <a:p>
            <a:pPr marL="342900" indent="-342900">
              <a:lnSpc>
                <a:spcPts val="1800"/>
              </a:lnSpc>
              <a:buSzPct val="100000"/>
              <a:buChar char="•"/>
            </a:pPr>
            <a:r>
              <a:rPr lang="en-US" sz="1600" dirty="0">
                <a:solidFill>
                  <a:srgbClr val="111111"/>
                </a:solidFill>
              </a:rPr>
              <a:t>• Genomic data analysis</a:t>
            </a:r>
            <a:endParaRPr lang="en-US" sz="1600" dirty="0"/>
          </a:p>
          <a:p>
            <a:pPr marL="342900" indent="-342900">
              <a:lnSpc>
                <a:spcPts val="1800"/>
              </a:lnSpc>
              <a:buSzPct val="100000"/>
              <a:buChar char="•"/>
            </a:pPr>
            <a:r>
              <a:rPr lang="en-US" sz="1600" dirty="0">
                <a:solidFill>
                  <a:srgbClr val="111111"/>
                </a:solidFill>
              </a:rPr>
              <a:t>• Predicting treatment response</a:t>
            </a:r>
            <a:endParaRPr lang="en-US" sz="1600" dirty="0"/>
          </a:p>
          <a:p>
            <a:pPr marL="342900" indent="-342900">
              <a:lnSpc>
                <a:spcPts val="1800"/>
              </a:lnSpc>
              <a:buSzPct val="100000"/>
              <a:buChar char="•"/>
            </a:pPr>
            <a:r>
              <a:rPr lang="en-US" sz="1600" dirty="0">
                <a:solidFill>
                  <a:srgbClr val="111111"/>
                </a:solidFill>
              </a:rPr>
              <a:t>• Optimizing drug dosages</a:t>
            </a:r>
            <a:endParaRPr lang="en-US" sz="1600" dirty="0"/>
          </a:p>
          <a:p>
            <a:pPr marL="342900" indent="-342900">
              <a:lnSpc>
                <a:spcPts val="1800"/>
              </a:lnSpc>
              <a:buSzPct val="100000"/>
              <a:buChar char="•"/>
            </a:pPr>
            <a:r>
              <a:rPr lang="en-US" sz="1600" dirty="0">
                <a:solidFill>
                  <a:srgbClr val="111111"/>
                </a:solidFill>
              </a:rPr>
              <a:t>• Tailoring preventative strategies</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65760"/>
            <a:ext cx="8229600" cy="0"/>
          </a:xfrm>
          <a:prstGeom prst="rect">
            <a:avLst/>
          </a:prstGeom>
          <a:noFill/>
          <a:ln/>
        </p:spPr>
        <p:txBody>
          <a:bodyPr wrap="square" rtlCol="0" anchor="ctr"/>
          <a:lstStyle/>
          <a:p>
            <a:pPr algn="ctr" indent="0" marL="0">
              <a:buNone/>
            </a:pPr>
            <a:r>
              <a:rPr lang="en-US" sz="2800" b="1" dirty="0">
                <a:solidFill>
                  <a:srgbClr val="003366"/>
                </a:solidFill>
              </a:rPr>
              <a:t>Challenges and Future of AI in Healthcare</a:t>
            </a:r>
            <a:endParaRPr lang="en-US" sz="2800" dirty="0"/>
          </a:p>
        </p:txBody>
      </p:sp>
      <p:sp>
        <p:nvSpPr>
          <p:cNvPr id="3" name="Text 1"/>
          <p:cNvSpPr/>
          <p:nvPr/>
        </p:nvSpPr>
        <p:spPr>
          <a:xfrm>
            <a:off x="640080" y="1280160"/>
            <a:ext cx="7315200" cy="0"/>
          </a:xfrm>
          <a:prstGeom prst="rect">
            <a:avLst/>
          </a:prstGeom>
          <a:noFill/>
          <a:ln/>
        </p:spPr>
        <p:txBody>
          <a:bodyPr wrap="square" rtlCol="0" anchor="ctr"/>
          <a:lstStyle/>
          <a:p>
            <a:pPr indent="0" marL="0">
              <a:buNone/>
            </a:pPr>
            <a:r>
              <a:rPr lang="en-US" sz="2200" b="1" dirty="0">
                <a:solidFill>
                  <a:srgbClr val="0055A5"/>
                </a:solidFill>
              </a:rPr>
              <a:t>Navigating the Path Forward</a:t>
            </a:r>
            <a:endParaRPr lang="en-US" sz="2200" dirty="0"/>
          </a:p>
        </p:txBody>
      </p:sp>
      <p:sp>
        <p:nvSpPr>
          <p:cNvPr id="4" name="Text 2"/>
          <p:cNvSpPr txBox="1"/>
          <p:nvPr/>
        </p:nvSpPr>
        <p:spPr>
          <a:xfrm>
            <a:off x="640080" y="1828800"/>
            <a:ext cx="7315200" cy="3200400"/>
          </a:xfrm>
          <a:prstGeom prst="rect">
            <a:avLst/>
          </a:prstGeom>
          <a:noFill/>
          <a:ln/>
        </p:spPr>
        <p:txBody>
          <a:bodyPr wrap="square" rtlCol="0" anchor="t">
            <a:spAutoFit/>
          </a:bodyPr>
          <a:lstStyle/>
          <a:p>
            <a:pPr indent="0" marL="0">
              <a:lnSpc>
                <a:spcPts val="2000"/>
              </a:lnSpc>
              <a:buNone/>
            </a:pPr>
            <a:r>
              <a:rPr lang="en-US" sz="1600" dirty="0">
                <a:solidFill>
                  <a:srgbClr val="333333"/>
                </a:solidFill>
              </a:rPr>
              <a:t>Despite its immense potential, the widespread adoption of AI in healthcare faces challenges such as data privacy concerns, regulatory hurdles, and the need for robust validation. However, ongoing research and development, coupled with increasing collaboration between AI experts and healthcare professionals, promise a future where AI plays an even more integral role in improving global health.</a:t>
            </a:r>
            <a:endParaRPr lang="en-US" sz="1600" dirty="0"/>
          </a:p>
        </p:txBody>
      </p:sp>
      <p:sp>
        <p:nvSpPr>
          <p:cNvPr id="5" name="Text 3"/>
          <p:cNvSpPr/>
          <p:nvPr/>
        </p:nvSpPr>
        <p:spPr>
          <a:xfrm>
            <a:off x="822960" y="2926080"/>
            <a:ext cx="7315200" cy="0"/>
          </a:xfrm>
          <a:prstGeom prst="rect">
            <a:avLst/>
          </a:prstGeom>
          <a:noFill/>
          <a:ln/>
        </p:spPr>
        <p:txBody>
          <a:bodyPr wrap="square" rtlCol="0" anchor="ctr"/>
          <a:lstStyle/>
          <a:p>
            <a:pPr marL="342900" indent="-342900">
              <a:lnSpc>
                <a:spcPts val="1800"/>
              </a:lnSpc>
              <a:buSzPct val="100000"/>
              <a:buChar char="•"/>
            </a:pPr>
            <a:r>
              <a:rPr lang="en-US" sz="1600" dirty="0">
                <a:solidFill>
                  <a:srgbClr val="111111"/>
                </a:solidFill>
              </a:rPr>
              <a:t>• Data security and privacy</a:t>
            </a:r>
            <a:endParaRPr lang="en-US" sz="1600" dirty="0"/>
          </a:p>
          <a:p>
            <a:pPr marL="342900" indent="-342900">
              <a:lnSpc>
                <a:spcPts val="1800"/>
              </a:lnSpc>
              <a:buSzPct val="100000"/>
              <a:buChar char="•"/>
            </a:pPr>
            <a:r>
              <a:rPr lang="en-US" sz="1600" dirty="0">
                <a:solidFill>
                  <a:srgbClr val="111111"/>
                </a:solidFill>
              </a:rPr>
              <a:t>• Regulatory frameworks</a:t>
            </a:r>
            <a:endParaRPr lang="en-US" sz="1600" dirty="0"/>
          </a:p>
          <a:p>
            <a:pPr marL="342900" indent="-342900">
              <a:lnSpc>
                <a:spcPts val="1800"/>
              </a:lnSpc>
              <a:buSzPct val="100000"/>
              <a:buChar char="•"/>
            </a:pPr>
            <a:r>
              <a:rPr lang="en-US" sz="1600" dirty="0">
                <a:solidFill>
                  <a:srgbClr val="111111"/>
                </a:solidFill>
              </a:rPr>
              <a:t>• Ethical considerations</a:t>
            </a:r>
            <a:endParaRPr lang="en-US" sz="1600" dirty="0"/>
          </a:p>
          <a:p>
            <a:pPr marL="342900" indent="-342900">
              <a:lnSpc>
                <a:spcPts val="1800"/>
              </a:lnSpc>
              <a:buSzPct val="100000"/>
              <a:buChar char="•"/>
            </a:pPr>
            <a:r>
              <a:rPr lang="en-US" sz="1600" dirty="0">
                <a:solidFill>
                  <a:srgbClr val="111111"/>
                </a:solidFill>
              </a:rPr>
              <a:t>• Integration with existing systems</a:t>
            </a:r>
            <a:endParaRPr lang="en-US" sz="1600" dirty="0"/>
          </a:p>
          <a:p>
            <a:pPr marL="342900" indent="-342900">
              <a:lnSpc>
                <a:spcPts val="1800"/>
              </a:lnSpc>
              <a:buSzPct val="100000"/>
              <a:buChar char="•"/>
            </a:pPr>
            <a:r>
              <a:rPr lang="en-US" sz="1600" dirty="0">
                <a:solidFill>
                  <a:srgbClr val="111111"/>
                </a:solidFill>
              </a:rPr>
              <a:t>• Continuous learning and adaptation</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2025-11-01T18:57:42Z</dcterms:created>
  <dcterms:modified xsi:type="dcterms:W3CDTF">2025-11-01T18:57:42Z</dcterms:modified>
</cp:coreProperties>
</file>