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457200" y="2286000"/>
            <a:ext cx="8229600" cy="0"/>
          </a:xfrm>
          <a:prstGeom prst="rect">
            <a:avLst/>
          </a:prstGeom>
          <a:noFill/>
          <a:ln/>
        </p:spPr>
        <p:txBody>
          <a:bodyPr wrap="square" rtlCol="0" anchor="ctr"/>
          <a:lstStyle/>
          <a:p>
            <a:pPr algn="ctr" indent="0" marL="0">
              <a:buNone/>
            </a:pPr>
            <a:r>
              <a:rPr lang="en-US" sz="4000" b="1" dirty="0">
                <a:solidFill>
                  <a:srgbClr val="003366"/>
                </a:solidFill>
              </a:rPr>
              <a:t>AI in Healthcare</a:t>
            </a:r>
            <a:endParaRPr lang="en-US" sz="4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57200"/>
            <a:ext cx="8229600" cy="0"/>
          </a:xfrm>
          <a:prstGeom prst="rect">
            <a:avLst/>
          </a:prstGeom>
          <a:noFill/>
          <a:ln/>
        </p:spPr>
        <p:txBody>
          <a:bodyPr wrap="square" rtlCol="0" anchor="ctr"/>
          <a:lstStyle/>
          <a:p>
            <a:pPr algn="ctr" indent="0" marL="0">
              <a:buNone/>
            </a:pPr>
            <a:r>
              <a:rPr lang="en-US" sz="2600" b="1" dirty="0">
                <a:solidFill>
                  <a:srgbClr val="003366"/>
                </a:solidFill>
              </a:rPr>
              <a:t>Introduction to AI in Healthcare</a:t>
            </a:r>
            <a:endParaRPr lang="en-US" sz="2600" dirty="0"/>
          </a:p>
        </p:txBody>
      </p:sp>
      <p:sp>
        <p:nvSpPr>
          <p:cNvPr id="3" name="Text 1"/>
          <p:cNvSpPr/>
          <p:nvPr/>
        </p:nvSpPr>
        <p:spPr>
          <a:xfrm>
            <a:off x="640080" y="1280160"/>
            <a:ext cx="7772400" cy="0"/>
          </a:xfrm>
          <a:prstGeom prst="rect">
            <a:avLst/>
          </a:prstGeom>
          <a:noFill/>
          <a:ln/>
        </p:spPr>
        <p:txBody>
          <a:bodyPr wrap="square" rtlCol="0" anchor="ctr"/>
          <a:lstStyle/>
          <a:p>
            <a:pPr indent="0" marL="0">
              <a:buNone/>
            </a:pPr>
            <a:r>
              <a:rPr lang="en-US" sz="2000" b="1" dirty="0">
                <a:solidFill>
                  <a:srgbClr val="0055A5"/>
                </a:solidFill>
              </a:rPr>
              <a:t>Transforming Patient Care</a:t>
            </a:r>
            <a:endParaRPr lang="en-US" sz="2000" dirty="0"/>
          </a:p>
        </p:txBody>
      </p:sp>
      <p:sp>
        <p:nvSpPr>
          <p:cNvPr id="4" name="Text 2"/>
          <p:cNvSpPr/>
          <p:nvPr/>
        </p:nvSpPr>
        <p:spPr>
          <a:xfrm>
            <a:off x="640080" y="1737360"/>
            <a:ext cx="7772400" cy="1280160"/>
          </a:xfrm>
          <a:prstGeom prst="rect">
            <a:avLst/>
          </a:prstGeom>
          <a:noFill/>
          <a:ln/>
        </p:spPr>
        <p:txBody>
          <a:bodyPr wrap="square" rtlCol="0" anchor="t">
            <a:spAutoFit/>
          </a:bodyPr>
          <a:lstStyle/>
          <a:p>
            <a:pPr indent="0" marL="0">
              <a:lnSpc>
                <a:spcPts val="2200"/>
              </a:lnSpc>
              <a:buNone/>
            </a:pPr>
            <a:r>
              <a:rPr lang="en-US" sz="1600" dirty="0">
                <a:solidFill>
                  <a:srgbClr val="333333"/>
                </a:solidFill>
              </a:rPr>
              <a:t>Artificial Intelligence (AI) is revolutionizing the healthcare industry by offering innovative solutions to complex challenges. From improving diagnostic accuracy to personalizing treatment plans, AI is poised to enhance patient outcomes and streamline healthcare operations. This presentation explores key applications and benefits of AI in modern medicine.</a:t>
            </a:r>
            <a:endParaRPr lang="en-US" sz="1600" dirty="0"/>
          </a:p>
        </p:txBody>
      </p:sp>
      <p:sp>
        <p:nvSpPr>
          <p:cNvPr id="5" name="Text 3"/>
          <p:cNvSpPr/>
          <p:nvPr/>
        </p:nvSpPr>
        <p:spPr>
          <a:xfrm>
            <a:off x="822960" y="3291840"/>
            <a:ext cx="6858000" cy="1554480"/>
          </a:xfrm>
          <a:prstGeom prst="rect">
            <a:avLst/>
          </a:prstGeom>
          <a:noFill/>
          <a:ln/>
        </p:spPr>
        <p:txBody>
          <a:bodyPr wrap="square" rtlCol="0" anchor="ctr"/>
          <a:lstStyle/>
          <a:p>
            <a:pPr marL="342900" indent="-342900">
              <a:lnSpc>
                <a:spcPts val="2000"/>
              </a:lnSpc>
              <a:buSzPct val="100000"/>
              <a:buChar char="•"/>
            </a:pPr>
            <a:r>
              <a:rPr lang="en-US" sz="1600" dirty="0">
                <a:solidFill>
                  <a:srgbClr val="111111"/>
                </a:solidFill>
              </a:rPr>
              <a:t>Enhanced Diagnostics</a:t>
            </a:r>
            <a:pPr indent="0" marL="0">
              <a:lnSpc>
                <a:spcPts val="2000"/>
              </a:lnSpc>
              <a:buNone/>
            </a:pPr>
            <a:r>
              <a:rPr lang="en-US" sz="1600" dirty="0">
                <a:solidFill>
                  <a:srgbClr val="111111"/>
                </a:solidFill>
              </a:rPr>
              <a:t>Personalized Medicine</a:t>
            </a:r>
            <a:pPr indent="0" marL="0">
              <a:lnSpc>
                <a:spcPts val="2000"/>
              </a:lnSpc>
              <a:buNone/>
            </a:pPr>
            <a:r>
              <a:rPr lang="en-US" sz="1600" dirty="0">
                <a:solidFill>
                  <a:srgbClr val="111111"/>
                </a:solidFill>
              </a:rPr>
              <a:t>Drug Discovery</a:t>
            </a:r>
            <a:pPr indent="0" marL="0">
              <a:lnSpc>
                <a:spcPts val="2000"/>
              </a:lnSpc>
              <a:buNone/>
            </a:pPr>
            <a:r>
              <a:rPr lang="en-US" sz="1600" dirty="0">
                <a:solidFill>
                  <a:srgbClr val="111111"/>
                </a:solidFill>
              </a:rPr>
              <a:t>Operational Efficiency</a:t>
            </a:r>
            <a:endParaRPr lang="en-US" sz="1600" dirty="0"/>
          </a:p>
        </p:txBody>
      </p:sp>
      <p:sp>
        <p:nvSpPr>
          <p:cNvPr id="6" name="Text 4"/>
          <p:cNvSpPr/>
          <p:nvPr/>
        </p:nvSpPr>
        <p:spPr>
          <a:xfrm>
            <a:off x="457200" y="6217920"/>
            <a:ext cx="8229600" cy="0"/>
          </a:xfrm>
          <a:prstGeom prst="rect">
            <a:avLst/>
          </a:prstGeom>
          <a:noFill/>
          <a:ln/>
        </p:spPr>
        <p:txBody>
          <a:bodyPr wrap="square" rtlCol="0" anchor="ctr"/>
          <a:lstStyle/>
          <a:p>
            <a:pPr algn="ctr" indent="0" marL="0">
              <a:buNone/>
            </a:pPr>
            <a:r>
              <a:rPr lang="en-US" sz="1000" dirty="0">
                <a:solidFill>
                  <a:srgbClr val="777777"/>
                </a:solidFill>
              </a:rPr>
              <a:t>Generated by AI Slide Generator</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57200"/>
            <a:ext cx="8229600" cy="0"/>
          </a:xfrm>
          <a:prstGeom prst="rect">
            <a:avLst/>
          </a:prstGeom>
          <a:noFill/>
          <a:ln/>
        </p:spPr>
        <p:txBody>
          <a:bodyPr wrap="square" rtlCol="0" anchor="ctr"/>
          <a:lstStyle/>
          <a:p>
            <a:pPr algn="ctr" indent="0" marL="0">
              <a:buNone/>
            </a:pPr>
            <a:r>
              <a:rPr lang="en-US" sz="2600" b="1" dirty="0">
                <a:solidFill>
                  <a:srgbClr val="003366"/>
                </a:solidFill>
              </a:rPr>
              <a:t>AI for Diagnostics and Imaging</a:t>
            </a:r>
            <a:endParaRPr lang="en-US" sz="2600" dirty="0"/>
          </a:p>
        </p:txBody>
      </p:sp>
      <p:sp>
        <p:nvSpPr>
          <p:cNvPr id="3" name="Text 1"/>
          <p:cNvSpPr/>
          <p:nvPr/>
        </p:nvSpPr>
        <p:spPr>
          <a:xfrm>
            <a:off x="640080" y="1280160"/>
            <a:ext cx="7772400" cy="0"/>
          </a:xfrm>
          <a:prstGeom prst="rect">
            <a:avLst/>
          </a:prstGeom>
          <a:noFill/>
          <a:ln/>
        </p:spPr>
        <p:txBody>
          <a:bodyPr wrap="square" rtlCol="0" anchor="ctr"/>
          <a:lstStyle/>
          <a:p>
            <a:pPr indent="0" marL="0">
              <a:buNone/>
            </a:pPr>
            <a:r>
              <a:rPr lang="en-US" sz="2000" b="1" dirty="0">
                <a:solidFill>
                  <a:srgbClr val="0055A5"/>
                </a:solidFill>
              </a:rPr>
              <a:t>Precision in Detection</a:t>
            </a:r>
            <a:endParaRPr lang="en-US" sz="2000" dirty="0"/>
          </a:p>
        </p:txBody>
      </p:sp>
      <p:sp>
        <p:nvSpPr>
          <p:cNvPr id="4" name="Text 2"/>
          <p:cNvSpPr/>
          <p:nvPr/>
        </p:nvSpPr>
        <p:spPr>
          <a:xfrm>
            <a:off x="640080" y="1737360"/>
            <a:ext cx="7772400" cy="1280160"/>
          </a:xfrm>
          <a:prstGeom prst="rect">
            <a:avLst/>
          </a:prstGeom>
          <a:noFill/>
          <a:ln/>
        </p:spPr>
        <p:txBody>
          <a:bodyPr wrap="square" rtlCol="0" anchor="t">
            <a:spAutoFit/>
          </a:bodyPr>
          <a:lstStyle/>
          <a:p>
            <a:pPr indent="0" marL="0">
              <a:lnSpc>
                <a:spcPts val="2200"/>
              </a:lnSpc>
              <a:buNone/>
            </a:pPr>
            <a:r>
              <a:rPr lang="en-US" sz="1600" dirty="0">
                <a:solidFill>
                  <a:srgbClr val="333333"/>
                </a:solidFill>
              </a:rPr>
              <a:t>AI algorithms, particularly deep learning models, are proving highly effective in analyzing medical images such as X-rays, CT scans, and MRIs. These systems can identify subtle patterns and anomalies that might be missed by the human eye, leading to earlier and more accurate diagnoses of diseases like cancer, diabetic retinopathy, and cardiovascular conditions.</a:t>
            </a:r>
            <a:endParaRPr lang="en-US" sz="1600" dirty="0"/>
          </a:p>
        </p:txBody>
      </p:sp>
      <p:sp>
        <p:nvSpPr>
          <p:cNvPr id="5" name="Text 3"/>
          <p:cNvSpPr/>
          <p:nvPr/>
        </p:nvSpPr>
        <p:spPr>
          <a:xfrm>
            <a:off x="822960" y="3291840"/>
            <a:ext cx="6858000" cy="1554480"/>
          </a:xfrm>
          <a:prstGeom prst="rect">
            <a:avLst/>
          </a:prstGeom>
          <a:noFill/>
          <a:ln/>
        </p:spPr>
        <p:txBody>
          <a:bodyPr wrap="square" rtlCol="0" anchor="ctr"/>
          <a:lstStyle/>
          <a:p>
            <a:pPr marL="342900" indent="-342900">
              <a:lnSpc>
                <a:spcPts val="2000"/>
              </a:lnSpc>
              <a:buSzPct val="100000"/>
              <a:buChar char="•"/>
            </a:pPr>
            <a:r>
              <a:rPr lang="en-US" sz="1600" dirty="0">
                <a:solidFill>
                  <a:srgbClr val="111111"/>
                </a:solidFill>
              </a:rPr>
              <a:t>Early cancer detection</a:t>
            </a:r>
            <a:pPr indent="0" marL="0">
              <a:lnSpc>
                <a:spcPts val="2000"/>
              </a:lnSpc>
              <a:buNone/>
            </a:pPr>
            <a:r>
              <a:rPr lang="en-US" sz="1600" dirty="0">
                <a:solidFill>
                  <a:srgbClr val="111111"/>
                </a:solidFill>
              </a:rPr>
              <a:t>Identifying neurological disorders</a:t>
            </a:r>
            <a:pPr indent="0" marL="0">
              <a:lnSpc>
                <a:spcPts val="2000"/>
              </a:lnSpc>
              <a:buNone/>
            </a:pPr>
            <a:r>
              <a:rPr lang="en-US" sz="1600" dirty="0">
                <a:solidFill>
                  <a:srgbClr val="111111"/>
                </a:solidFill>
              </a:rPr>
              <a:t>Analyzing retinal scans</a:t>
            </a:r>
            <a:pPr indent="0" marL="0">
              <a:lnSpc>
                <a:spcPts val="2000"/>
              </a:lnSpc>
              <a:buNone/>
            </a:pPr>
            <a:r>
              <a:rPr lang="en-US" sz="1600" dirty="0">
                <a:solidFill>
                  <a:srgbClr val="111111"/>
                </a:solidFill>
              </a:rPr>
              <a:t>Detecting fractures in X-rays</a:t>
            </a:r>
            <a:endParaRPr lang="en-US" sz="1600" dirty="0"/>
          </a:p>
        </p:txBody>
      </p:sp>
      <p:sp>
        <p:nvSpPr>
          <p:cNvPr id="6" name="Text 4"/>
          <p:cNvSpPr/>
          <p:nvPr/>
        </p:nvSpPr>
        <p:spPr>
          <a:xfrm>
            <a:off x="457200" y="6217920"/>
            <a:ext cx="8229600" cy="0"/>
          </a:xfrm>
          <a:prstGeom prst="rect">
            <a:avLst/>
          </a:prstGeom>
          <a:noFill/>
          <a:ln/>
        </p:spPr>
        <p:txBody>
          <a:bodyPr wrap="square" rtlCol="0" anchor="ctr"/>
          <a:lstStyle/>
          <a:p>
            <a:pPr algn="ctr" indent="0" marL="0">
              <a:buNone/>
            </a:pPr>
            <a:r>
              <a:rPr lang="en-US" sz="1000" dirty="0">
                <a:solidFill>
                  <a:srgbClr val="777777"/>
                </a:solidFill>
              </a:rPr>
              <a:t>Generated by AI Slide Generator</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57200"/>
            <a:ext cx="8229600" cy="0"/>
          </a:xfrm>
          <a:prstGeom prst="rect">
            <a:avLst/>
          </a:prstGeom>
          <a:noFill/>
          <a:ln/>
        </p:spPr>
        <p:txBody>
          <a:bodyPr wrap="square" rtlCol="0" anchor="ctr"/>
          <a:lstStyle/>
          <a:p>
            <a:pPr algn="ctr" indent="0" marL="0">
              <a:buNone/>
            </a:pPr>
            <a:r>
              <a:rPr lang="en-US" sz="2600" b="1" dirty="0">
                <a:solidFill>
                  <a:srgbClr val="003366"/>
                </a:solidFill>
              </a:rPr>
              <a:t>Personalized Treatment and Drug Discovery</a:t>
            </a:r>
            <a:endParaRPr lang="en-US" sz="2600" dirty="0"/>
          </a:p>
        </p:txBody>
      </p:sp>
      <p:sp>
        <p:nvSpPr>
          <p:cNvPr id="3" name="Text 1"/>
          <p:cNvSpPr/>
          <p:nvPr/>
        </p:nvSpPr>
        <p:spPr>
          <a:xfrm>
            <a:off x="640080" y="1280160"/>
            <a:ext cx="7772400" cy="0"/>
          </a:xfrm>
          <a:prstGeom prst="rect">
            <a:avLst/>
          </a:prstGeom>
          <a:noFill/>
          <a:ln/>
        </p:spPr>
        <p:txBody>
          <a:bodyPr wrap="square" rtlCol="0" anchor="ctr"/>
          <a:lstStyle/>
          <a:p>
            <a:pPr indent="0" marL="0">
              <a:buNone/>
            </a:pPr>
            <a:r>
              <a:rPr lang="en-US" sz="2000" b="1" dirty="0">
                <a:solidFill>
                  <a:srgbClr val="0055A5"/>
                </a:solidFill>
              </a:rPr>
              <a:t>Tailoring Therapies</a:t>
            </a:r>
            <a:endParaRPr lang="en-US" sz="2000" dirty="0"/>
          </a:p>
        </p:txBody>
      </p:sp>
      <p:sp>
        <p:nvSpPr>
          <p:cNvPr id="4" name="Text 2"/>
          <p:cNvSpPr/>
          <p:nvPr/>
        </p:nvSpPr>
        <p:spPr>
          <a:xfrm>
            <a:off x="640080" y="1737360"/>
            <a:ext cx="7772400" cy="1280160"/>
          </a:xfrm>
          <a:prstGeom prst="rect">
            <a:avLst/>
          </a:prstGeom>
          <a:noFill/>
          <a:ln/>
        </p:spPr>
        <p:txBody>
          <a:bodyPr wrap="square" rtlCol="0" anchor="t">
            <a:spAutoFit/>
          </a:bodyPr>
          <a:lstStyle/>
          <a:p>
            <a:pPr indent="0" marL="0">
              <a:lnSpc>
                <a:spcPts val="2200"/>
              </a:lnSpc>
              <a:buNone/>
            </a:pPr>
            <a:r>
              <a:rPr lang="en-US" sz="1600" dirty="0">
                <a:solidFill>
                  <a:srgbClr val="333333"/>
                </a:solidFill>
              </a:rPr>
              <a:t>AI plays a crucial role in developing personalized treatment plans by analyzing vast amounts of patient data, including genetic information, medical history, and lifestyle factors. Furthermore, AI accelerates drug discovery and development by predicting the efficacy and potential side effects of new compounds, significantly reducing the time and cost associated with bringing new medications to market.</a:t>
            </a:r>
            <a:endParaRPr lang="en-US" sz="1600" dirty="0"/>
          </a:p>
        </p:txBody>
      </p:sp>
      <p:sp>
        <p:nvSpPr>
          <p:cNvPr id="5" name="Text 3"/>
          <p:cNvSpPr/>
          <p:nvPr/>
        </p:nvSpPr>
        <p:spPr>
          <a:xfrm>
            <a:off x="822960" y="3291840"/>
            <a:ext cx="6858000" cy="1554480"/>
          </a:xfrm>
          <a:prstGeom prst="rect">
            <a:avLst/>
          </a:prstGeom>
          <a:noFill/>
          <a:ln/>
        </p:spPr>
        <p:txBody>
          <a:bodyPr wrap="square" rtlCol="0" anchor="ctr"/>
          <a:lstStyle/>
          <a:p>
            <a:pPr marL="342900" indent="-342900">
              <a:lnSpc>
                <a:spcPts val="2000"/>
              </a:lnSpc>
              <a:buSzPct val="100000"/>
              <a:buChar char="•"/>
            </a:pPr>
            <a:r>
              <a:rPr lang="en-US" sz="1600" dirty="0">
                <a:solidFill>
                  <a:srgbClr val="111111"/>
                </a:solidFill>
              </a:rPr>
              <a:t>Predicting patient response to treatments</a:t>
            </a:r>
            <a:pPr indent="0" marL="0">
              <a:lnSpc>
                <a:spcPts val="2000"/>
              </a:lnSpc>
              <a:buNone/>
            </a:pPr>
            <a:r>
              <a:rPr lang="en-US" sz="1600" dirty="0">
                <a:solidFill>
                  <a:srgbClr val="111111"/>
                </a:solidFill>
              </a:rPr>
              <a:t>Optimizing drug dosages</a:t>
            </a:r>
            <a:pPr indent="0" marL="0">
              <a:lnSpc>
                <a:spcPts val="2000"/>
              </a:lnSpc>
              <a:buNone/>
            </a:pPr>
            <a:r>
              <a:rPr lang="en-US" sz="1600" dirty="0">
                <a:solidFill>
                  <a:srgbClr val="111111"/>
                </a:solidFill>
              </a:rPr>
              <a:t>Identifying novel drug targets</a:t>
            </a:r>
            <a:pPr indent="0" marL="0">
              <a:lnSpc>
                <a:spcPts val="2000"/>
              </a:lnSpc>
              <a:buNone/>
            </a:pPr>
            <a:r>
              <a:rPr lang="en-US" sz="1600" dirty="0">
                <a:solidFill>
                  <a:srgbClr val="111111"/>
                </a:solidFill>
              </a:rPr>
              <a:t>Accelerating clinical trial analysis</a:t>
            </a:r>
            <a:endParaRPr lang="en-US" sz="1600" dirty="0"/>
          </a:p>
        </p:txBody>
      </p:sp>
      <p:sp>
        <p:nvSpPr>
          <p:cNvPr id="6" name="Text 4"/>
          <p:cNvSpPr/>
          <p:nvPr/>
        </p:nvSpPr>
        <p:spPr>
          <a:xfrm>
            <a:off x="457200" y="6217920"/>
            <a:ext cx="8229600" cy="0"/>
          </a:xfrm>
          <a:prstGeom prst="rect">
            <a:avLst/>
          </a:prstGeom>
          <a:noFill/>
          <a:ln/>
        </p:spPr>
        <p:txBody>
          <a:bodyPr wrap="square" rtlCol="0" anchor="ctr"/>
          <a:lstStyle/>
          <a:p>
            <a:pPr algn="ctr" indent="0" marL="0">
              <a:buNone/>
            </a:pPr>
            <a:r>
              <a:rPr lang="en-US" sz="1000" dirty="0">
                <a:solidFill>
                  <a:srgbClr val="777777"/>
                </a:solidFill>
              </a:rPr>
              <a:t>Generated by AI Slide Generator</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57200"/>
            <a:ext cx="8229600" cy="0"/>
          </a:xfrm>
          <a:prstGeom prst="rect">
            <a:avLst/>
          </a:prstGeom>
          <a:noFill/>
          <a:ln/>
        </p:spPr>
        <p:txBody>
          <a:bodyPr wrap="square" rtlCol="0" anchor="ctr"/>
          <a:lstStyle/>
          <a:p>
            <a:pPr algn="ctr" indent="0" marL="0">
              <a:buNone/>
            </a:pPr>
            <a:r>
              <a:rPr lang="en-US" sz="2600" b="1" dirty="0">
                <a:solidFill>
                  <a:srgbClr val="003366"/>
                </a:solidFill>
              </a:rPr>
              <a:t>AI in Healthcare Operations and Administration</a:t>
            </a:r>
            <a:endParaRPr lang="en-US" sz="2600" dirty="0"/>
          </a:p>
        </p:txBody>
      </p:sp>
      <p:sp>
        <p:nvSpPr>
          <p:cNvPr id="3" name="Text 1"/>
          <p:cNvSpPr/>
          <p:nvPr/>
        </p:nvSpPr>
        <p:spPr>
          <a:xfrm>
            <a:off x="640080" y="1280160"/>
            <a:ext cx="7772400" cy="0"/>
          </a:xfrm>
          <a:prstGeom prst="rect">
            <a:avLst/>
          </a:prstGeom>
          <a:noFill/>
          <a:ln/>
        </p:spPr>
        <p:txBody>
          <a:bodyPr wrap="square" rtlCol="0" anchor="ctr"/>
          <a:lstStyle/>
          <a:p>
            <a:pPr indent="0" marL="0">
              <a:buNone/>
            </a:pPr>
            <a:r>
              <a:rPr lang="en-US" sz="2000" b="1" dirty="0">
                <a:solidFill>
                  <a:srgbClr val="0055A5"/>
                </a:solidFill>
              </a:rPr>
              <a:t>Streamlining Workflows</a:t>
            </a:r>
            <a:endParaRPr lang="en-US" sz="2000" dirty="0"/>
          </a:p>
        </p:txBody>
      </p:sp>
      <p:sp>
        <p:nvSpPr>
          <p:cNvPr id="4" name="Text 2"/>
          <p:cNvSpPr/>
          <p:nvPr/>
        </p:nvSpPr>
        <p:spPr>
          <a:xfrm>
            <a:off x="640080" y="1737360"/>
            <a:ext cx="7772400" cy="1280160"/>
          </a:xfrm>
          <a:prstGeom prst="rect">
            <a:avLst/>
          </a:prstGeom>
          <a:noFill/>
          <a:ln/>
        </p:spPr>
        <p:txBody>
          <a:bodyPr wrap="square" rtlCol="0" anchor="t">
            <a:spAutoFit/>
          </a:bodyPr>
          <a:lstStyle/>
          <a:p>
            <a:pPr indent="0" marL="0">
              <a:lnSpc>
                <a:spcPts val="2200"/>
              </a:lnSpc>
              <a:buNone/>
            </a:pPr>
            <a:r>
              <a:rPr lang="en-US" sz="1600" dirty="0">
                <a:solidFill>
                  <a:srgbClr val="333333"/>
                </a:solidFill>
              </a:rPr>
              <a:t>Beyond direct patient care, AI is optimizing healthcare operations. This includes automating administrative tasks, improving patient scheduling, managing hospital resources efficiently, and predicting patient flow to reduce wait times. AI-powered chatbots can also provide initial patient support and answer common queries, freeing up healthcare professionals for more critical tasks.</a:t>
            </a:r>
            <a:endParaRPr lang="en-US" sz="1600" dirty="0"/>
          </a:p>
        </p:txBody>
      </p:sp>
      <p:sp>
        <p:nvSpPr>
          <p:cNvPr id="5" name="Text 3"/>
          <p:cNvSpPr/>
          <p:nvPr/>
        </p:nvSpPr>
        <p:spPr>
          <a:xfrm>
            <a:off x="822960" y="3291840"/>
            <a:ext cx="6858000" cy="1554480"/>
          </a:xfrm>
          <a:prstGeom prst="rect">
            <a:avLst/>
          </a:prstGeom>
          <a:noFill/>
          <a:ln/>
        </p:spPr>
        <p:txBody>
          <a:bodyPr wrap="square" rtlCol="0" anchor="ctr"/>
          <a:lstStyle/>
          <a:p>
            <a:pPr marL="342900" indent="-342900">
              <a:lnSpc>
                <a:spcPts val="2000"/>
              </a:lnSpc>
              <a:buSzPct val="100000"/>
              <a:buChar char="•"/>
            </a:pPr>
            <a:r>
              <a:rPr lang="en-US" sz="1600" dirty="0">
                <a:solidFill>
                  <a:srgbClr val="111111"/>
                </a:solidFill>
              </a:rPr>
              <a:t>Automating billing and coding</a:t>
            </a:r>
            <a:pPr indent="0" marL="0">
              <a:lnSpc>
                <a:spcPts val="2000"/>
              </a:lnSpc>
              <a:buNone/>
            </a:pPr>
            <a:r>
              <a:rPr lang="en-US" sz="1600" dirty="0">
                <a:solidFill>
                  <a:srgbClr val="111111"/>
                </a:solidFill>
              </a:rPr>
              <a:t>Predictive staffing for hospitals</a:t>
            </a:r>
            <a:pPr indent="0" marL="0">
              <a:lnSpc>
                <a:spcPts val="2000"/>
              </a:lnSpc>
              <a:buNone/>
            </a:pPr>
            <a:r>
              <a:rPr lang="en-US" sz="1600" dirty="0">
                <a:solidFill>
                  <a:srgbClr val="111111"/>
                </a:solidFill>
              </a:rPr>
              <a:t>Optimizing appointment scheduling</a:t>
            </a:r>
            <a:pPr indent="0" marL="0">
              <a:lnSpc>
                <a:spcPts val="2000"/>
              </a:lnSpc>
              <a:buNone/>
            </a:pPr>
            <a:r>
              <a:rPr lang="en-US" sz="1600" dirty="0">
                <a:solidFill>
                  <a:srgbClr val="111111"/>
                </a:solidFill>
              </a:rPr>
              <a:t>Virtual patient assistants</a:t>
            </a:r>
            <a:endParaRPr lang="en-US" sz="1600" dirty="0"/>
          </a:p>
        </p:txBody>
      </p:sp>
      <p:sp>
        <p:nvSpPr>
          <p:cNvPr id="6" name="Text 4"/>
          <p:cNvSpPr/>
          <p:nvPr/>
        </p:nvSpPr>
        <p:spPr>
          <a:xfrm>
            <a:off x="457200" y="6217920"/>
            <a:ext cx="8229600" cy="0"/>
          </a:xfrm>
          <a:prstGeom prst="rect">
            <a:avLst/>
          </a:prstGeom>
          <a:noFill/>
          <a:ln/>
        </p:spPr>
        <p:txBody>
          <a:bodyPr wrap="square" rtlCol="0" anchor="ctr"/>
          <a:lstStyle/>
          <a:p>
            <a:pPr algn="ctr" indent="0" marL="0">
              <a:buNone/>
            </a:pPr>
            <a:r>
              <a:rPr lang="en-US" sz="1000" dirty="0">
                <a:solidFill>
                  <a:srgbClr val="777777"/>
                </a:solidFill>
              </a:rPr>
              <a:t>Generated by AI Slide Generator</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57200"/>
            <a:ext cx="8229600" cy="0"/>
          </a:xfrm>
          <a:prstGeom prst="rect">
            <a:avLst/>
          </a:prstGeom>
          <a:noFill/>
          <a:ln/>
        </p:spPr>
        <p:txBody>
          <a:bodyPr wrap="square" rtlCol="0" anchor="ctr"/>
          <a:lstStyle/>
          <a:p>
            <a:pPr algn="ctr" indent="0" marL="0">
              <a:buNone/>
            </a:pPr>
            <a:r>
              <a:rPr lang="en-US" sz="2600" b="1" dirty="0">
                <a:solidFill>
                  <a:srgbClr val="003366"/>
                </a:solidFill>
              </a:rPr>
              <a:t>Challenges and Future of AI in Healthcare</a:t>
            </a:r>
            <a:endParaRPr lang="en-US" sz="2600" dirty="0"/>
          </a:p>
        </p:txBody>
      </p:sp>
      <p:sp>
        <p:nvSpPr>
          <p:cNvPr id="3" name="Text 1"/>
          <p:cNvSpPr/>
          <p:nvPr/>
        </p:nvSpPr>
        <p:spPr>
          <a:xfrm>
            <a:off x="640080" y="1280160"/>
            <a:ext cx="7772400" cy="0"/>
          </a:xfrm>
          <a:prstGeom prst="rect">
            <a:avLst/>
          </a:prstGeom>
          <a:noFill/>
          <a:ln/>
        </p:spPr>
        <p:txBody>
          <a:bodyPr wrap="square" rtlCol="0" anchor="ctr"/>
          <a:lstStyle/>
          <a:p>
            <a:pPr indent="0" marL="0">
              <a:buNone/>
            </a:pPr>
            <a:r>
              <a:rPr lang="en-US" sz="2000" b="1" dirty="0">
                <a:solidFill>
                  <a:srgbClr val="0055A5"/>
                </a:solidFill>
              </a:rPr>
              <a:t>Navigating the Path Forward</a:t>
            </a:r>
            <a:endParaRPr lang="en-US" sz="2000" dirty="0"/>
          </a:p>
        </p:txBody>
      </p:sp>
      <p:sp>
        <p:nvSpPr>
          <p:cNvPr id="4" name="Text 2"/>
          <p:cNvSpPr/>
          <p:nvPr/>
        </p:nvSpPr>
        <p:spPr>
          <a:xfrm>
            <a:off x="640080" y="1737360"/>
            <a:ext cx="7772400" cy="1280160"/>
          </a:xfrm>
          <a:prstGeom prst="rect">
            <a:avLst/>
          </a:prstGeom>
          <a:noFill/>
          <a:ln/>
        </p:spPr>
        <p:txBody>
          <a:bodyPr wrap="square" rtlCol="0" anchor="t">
            <a:spAutoFit/>
          </a:bodyPr>
          <a:lstStyle/>
          <a:p>
            <a:pPr indent="0" marL="0">
              <a:lnSpc>
                <a:spcPts val="2200"/>
              </a:lnSpc>
              <a:buNone/>
            </a:pPr>
            <a:r>
              <a:rPr lang="en-US" sz="1600" dirty="0">
                <a:solidFill>
                  <a:srgbClr val="333333"/>
                </a:solidFill>
              </a:rPr>
              <a:t>Despite its immense potential, the widespread adoption of AI in healthcare faces challenges such as data privacy concerns, regulatory hurdles, and the need for robust validation. However, ongoing research and development, coupled with increasing acceptance from healthcare professionals and patients, suggest a future where AI is an integral part of delivering high-quality, accessible, and personalized healthcare.</a:t>
            </a:r>
            <a:endParaRPr lang="en-US" sz="1600" dirty="0"/>
          </a:p>
        </p:txBody>
      </p:sp>
      <p:sp>
        <p:nvSpPr>
          <p:cNvPr id="5" name="Text 3"/>
          <p:cNvSpPr/>
          <p:nvPr/>
        </p:nvSpPr>
        <p:spPr>
          <a:xfrm>
            <a:off x="822960" y="3291840"/>
            <a:ext cx="6858000" cy="1554480"/>
          </a:xfrm>
          <a:prstGeom prst="rect">
            <a:avLst/>
          </a:prstGeom>
          <a:noFill/>
          <a:ln/>
        </p:spPr>
        <p:txBody>
          <a:bodyPr wrap="square" rtlCol="0" anchor="ctr"/>
          <a:lstStyle/>
          <a:p>
            <a:pPr marL="342900" indent="-342900">
              <a:lnSpc>
                <a:spcPts val="2000"/>
              </a:lnSpc>
              <a:buSzPct val="100000"/>
              <a:buChar char="•"/>
            </a:pPr>
            <a:r>
              <a:rPr lang="en-US" sz="1600" dirty="0">
                <a:solidFill>
                  <a:srgbClr val="111111"/>
                </a:solidFill>
              </a:rPr>
              <a:t>Ensuring data security and privacy</a:t>
            </a:r>
            <a:pPr indent="0" marL="0">
              <a:lnSpc>
                <a:spcPts val="2000"/>
              </a:lnSpc>
              <a:buNone/>
            </a:pPr>
            <a:r>
              <a:rPr lang="en-US" sz="1600" dirty="0">
                <a:solidFill>
                  <a:srgbClr val="111111"/>
                </a:solidFill>
              </a:rPr>
              <a:t>Establishing clear regulatory frameworks</a:t>
            </a:r>
            <a:pPr indent="0" marL="0">
              <a:lnSpc>
                <a:spcPts val="2000"/>
              </a:lnSpc>
              <a:buNone/>
            </a:pPr>
            <a:r>
              <a:rPr lang="en-US" sz="1600" dirty="0">
                <a:solidFill>
                  <a:srgbClr val="111111"/>
                </a:solidFill>
              </a:rPr>
              <a:t>Addressing ethical considerations</a:t>
            </a:r>
            <a:pPr indent="0" marL="0">
              <a:lnSpc>
                <a:spcPts val="2000"/>
              </a:lnSpc>
              <a:buNone/>
            </a:pPr>
            <a:r>
              <a:rPr lang="en-US" sz="1600" dirty="0">
                <a:solidFill>
                  <a:srgbClr val="111111"/>
                </a:solidFill>
              </a:rPr>
              <a:t>Fostering interdisciplinary collaboration</a:t>
            </a:r>
            <a:endParaRPr lang="en-US" sz="1600" dirty="0"/>
          </a:p>
        </p:txBody>
      </p:sp>
      <p:sp>
        <p:nvSpPr>
          <p:cNvPr id="6" name="Text 4"/>
          <p:cNvSpPr/>
          <p:nvPr/>
        </p:nvSpPr>
        <p:spPr>
          <a:xfrm>
            <a:off x="457200" y="6217920"/>
            <a:ext cx="8229600" cy="0"/>
          </a:xfrm>
          <a:prstGeom prst="rect">
            <a:avLst/>
          </a:prstGeom>
          <a:noFill/>
          <a:ln/>
        </p:spPr>
        <p:txBody>
          <a:bodyPr wrap="square" rtlCol="0" anchor="ctr"/>
          <a:lstStyle/>
          <a:p>
            <a:pPr algn="ctr" indent="0" marL="0">
              <a:buNone/>
            </a:pPr>
            <a:r>
              <a:rPr lang="en-US" sz="1000" dirty="0">
                <a:solidFill>
                  <a:srgbClr val="777777"/>
                </a:solidFill>
              </a:rPr>
              <a:t>Generated by AI Slide Generator</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2025-11-01T19:10:37Z</dcterms:created>
  <dcterms:modified xsi:type="dcterms:W3CDTF">2025-11-01T19:10:37Z</dcterms:modified>
</cp:coreProperties>
</file>