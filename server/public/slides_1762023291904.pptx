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365760"/>
            <a:ext cx="6858000" cy="0"/>
          </a:xfrm>
          <a:prstGeom prst="rect">
            <a:avLst/>
          </a:prstGeom>
          <a:noFill/>
          <a:ln/>
        </p:spPr>
        <p:txBody>
          <a:bodyPr wrap="square" rtlCol="0" anchor="ctr"/>
          <a:lstStyle/>
          <a:p>
            <a:pPr indent="0" marL="0">
              <a:buNone/>
            </a:pPr>
            <a:r>
              <a:rPr lang="en-US" sz="2400" b="1" dirty="0">
                <a:solidFill>
                  <a:srgbClr val="003366"/>
                </a:solidFill>
              </a:rPr>
              <a:t>Introduction to AI in Healthcare</a:t>
            </a:r>
            <a:endParaRPr lang="en-US" sz="2400" dirty="0"/>
          </a:p>
        </p:txBody>
      </p:sp>
      <p:sp>
        <p:nvSpPr>
          <p:cNvPr id="3" name="Text 1"/>
          <p:cNvSpPr/>
          <p:nvPr/>
        </p:nvSpPr>
        <p:spPr>
          <a:xfrm>
            <a:off x="640080" y="1097280"/>
            <a:ext cx="6858000" cy="0"/>
          </a:xfrm>
          <a:prstGeom prst="rect">
            <a:avLst/>
          </a:prstGeom>
          <a:noFill/>
          <a:ln/>
        </p:spPr>
        <p:txBody>
          <a:bodyPr wrap="square" rtlCol="0" anchor="ctr"/>
          <a:lstStyle/>
          <a:p>
            <a:pPr indent="0" marL="0">
              <a:buNone/>
            </a:pPr>
            <a:r>
              <a:rPr lang="en-US" sz="2000" b="1" dirty="0">
                <a:solidFill>
                  <a:srgbClr val="0055A5"/>
                </a:solidFill>
              </a:rPr>
              <a:t>Transforming Patient Care</a:t>
            </a:r>
            <a:endParaRPr lang="en-US" sz="2000" dirty="0"/>
          </a:p>
        </p:txBody>
      </p:sp>
      <p:sp>
        <p:nvSpPr>
          <p:cNvPr id="4" name="Text 2"/>
          <p:cNvSpPr/>
          <p:nvPr/>
        </p:nvSpPr>
        <p:spPr>
          <a:xfrm>
            <a:off x="640080" y="1554480"/>
            <a:ext cx="6858000" cy="0"/>
          </a:xfrm>
          <a:prstGeom prst="rect">
            <a:avLst/>
          </a:prstGeom>
          <a:noFill/>
          <a:ln/>
        </p:spPr>
        <p:txBody>
          <a:bodyPr wrap="square" rtlCol="0" anchor="ctr"/>
          <a:lstStyle/>
          <a:p>
            <a:pPr indent="0" marL="0">
              <a:lnSpc>
                <a:spcPts val="2000"/>
              </a:lnSpc>
              <a:buNone/>
            </a:pPr>
            <a:r>
              <a:rPr lang="en-US" sz="1600" dirty="0">
                <a:solidFill>
                  <a:srgbClr val="333333"/>
                </a:solidFill>
              </a:rPr>
              <a:t>Artificial Intelligence (AI) is revolutionizing the healthcare industry by offering advanced tools and capabilities that enhance diagnosis, treatment, and patient management. Its integration promises to improve efficiency, accuracy, and accessibility of medical services, ultimately leading to better health outcomes for individuals worldwide.</a:t>
            </a:r>
            <a:endParaRPr lang="en-US" sz="1600" dirty="0"/>
          </a:p>
        </p:txBody>
      </p:sp>
      <p:sp>
        <p:nvSpPr>
          <p:cNvPr id="5" name="Text 3"/>
          <p:cNvSpPr/>
          <p:nvPr/>
        </p:nvSpPr>
        <p:spPr>
          <a:xfrm>
            <a:off x="822960" y="2468880"/>
            <a:ext cx="6858000" cy="0"/>
          </a:xfrm>
          <a:prstGeom prst="rect">
            <a:avLst/>
          </a:prstGeom>
          <a:noFill/>
          <a:ln/>
        </p:spPr>
        <p:txBody>
          <a:bodyPr wrap="square" rtlCol="0" anchor="ctr"/>
          <a:lstStyle/>
          <a:p>
            <a:pPr marL="342900" indent="-342900">
              <a:buSzPct val="100000"/>
              <a:buChar char="•"/>
            </a:pPr>
            <a:r>
              <a:rPr lang="en-US" sz="1600" dirty="0">
                <a:solidFill>
                  <a:srgbClr val="111111"/>
                </a:solidFill>
              </a:rPr>
              <a:t>• Improved diagnostic accuracy</a:t>
            </a:r>
            <a:endParaRPr lang="en-US" sz="1600" dirty="0"/>
          </a:p>
          <a:p>
            <a:pPr marL="342900" indent="-342900">
              <a:buSzPct val="100000"/>
              <a:buChar char="•"/>
            </a:pPr>
            <a:r>
              <a:rPr lang="en-US" sz="1600" dirty="0">
                <a:solidFill>
                  <a:srgbClr val="111111"/>
                </a:solidFill>
              </a:rPr>
              <a:t>• Personalized treatment plans</a:t>
            </a:r>
            <a:endParaRPr lang="en-US" sz="1600" dirty="0"/>
          </a:p>
          <a:p>
            <a:pPr marL="342900" indent="-342900">
              <a:buSzPct val="100000"/>
              <a:buChar char="•"/>
            </a:pPr>
            <a:r>
              <a:rPr lang="en-US" sz="1600" dirty="0">
                <a:solidFill>
                  <a:srgbClr val="111111"/>
                </a:solidFill>
              </a:rPr>
              <a:t>• Streamlined administrative tasks</a:t>
            </a:r>
            <a:endParaRPr lang="en-US" sz="1600" dirty="0"/>
          </a:p>
          <a:p>
            <a:pPr marL="342900" indent="-342900">
              <a:buSzPct val="100000"/>
              <a:buChar char="•"/>
            </a:pPr>
            <a:r>
              <a:rPr lang="en-US" sz="1600" dirty="0">
                <a:solidFill>
                  <a:srgbClr val="111111"/>
                </a:solidFill>
              </a:rPr>
              <a:t>• Accelerated drug discovery</a:t>
            </a:r>
            <a:endParaRPr lang="en-US" sz="1600" dirty="0"/>
          </a:p>
          <a:p>
            <a:pPr marL="342900" indent="-342900">
              <a:buSzPct val="100000"/>
              <a:buChar char="•"/>
            </a:pPr>
            <a:r>
              <a:rPr lang="en-US" sz="1600" dirty="0">
                <a:solidFill>
                  <a:srgbClr val="111111"/>
                </a:solidFill>
              </a:rPr>
              <a:t>• Enhanced patient monitoring</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365760"/>
            <a:ext cx="6858000" cy="0"/>
          </a:xfrm>
          <a:prstGeom prst="rect">
            <a:avLst/>
          </a:prstGeom>
          <a:noFill/>
          <a:ln/>
        </p:spPr>
        <p:txBody>
          <a:bodyPr wrap="square" rtlCol="0" anchor="ctr"/>
          <a:lstStyle/>
          <a:p>
            <a:pPr indent="0" marL="0">
              <a:buNone/>
            </a:pPr>
            <a:r>
              <a:rPr lang="en-US" sz="2400" b="1" dirty="0">
                <a:solidFill>
                  <a:srgbClr val="003366"/>
                </a:solidFill>
              </a:rPr>
              <a:t>AI for Diagnosis and Imaging</a:t>
            </a:r>
            <a:endParaRPr lang="en-US" sz="2400" dirty="0"/>
          </a:p>
        </p:txBody>
      </p:sp>
      <p:sp>
        <p:nvSpPr>
          <p:cNvPr id="3" name="Text 1"/>
          <p:cNvSpPr/>
          <p:nvPr/>
        </p:nvSpPr>
        <p:spPr>
          <a:xfrm>
            <a:off x="640080" y="1097280"/>
            <a:ext cx="6858000" cy="0"/>
          </a:xfrm>
          <a:prstGeom prst="rect">
            <a:avLst/>
          </a:prstGeom>
          <a:noFill/>
          <a:ln/>
        </p:spPr>
        <p:txBody>
          <a:bodyPr wrap="square" rtlCol="0" anchor="ctr"/>
          <a:lstStyle/>
          <a:p>
            <a:pPr indent="0" marL="0">
              <a:buNone/>
            </a:pPr>
            <a:r>
              <a:rPr lang="en-US" sz="2000" b="1" dirty="0">
                <a:solidFill>
                  <a:srgbClr val="0055A5"/>
                </a:solidFill>
              </a:rPr>
              <a:t>Precision in Medical Imaging</a:t>
            </a:r>
            <a:endParaRPr lang="en-US" sz="2000" dirty="0"/>
          </a:p>
        </p:txBody>
      </p:sp>
      <p:sp>
        <p:nvSpPr>
          <p:cNvPr id="4" name="Text 2"/>
          <p:cNvSpPr/>
          <p:nvPr/>
        </p:nvSpPr>
        <p:spPr>
          <a:xfrm>
            <a:off x="640080" y="1554480"/>
            <a:ext cx="6858000" cy="0"/>
          </a:xfrm>
          <a:prstGeom prst="rect">
            <a:avLst/>
          </a:prstGeom>
          <a:noFill/>
          <a:ln/>
        </p:spPr>
        <p:txBody>
          <a:bodyPr wrap="square" rtlCol="0" anchor="ctr"/>
          <a:lstStyle/>
          <a:p>
            <a:pPr indent="0" marL="0">
              <a:lnSpc>
                <a:spcPts val="2000"/>
              </a:lnSpc>
              <a:buNone/>
            </a:pPr>
            <a:r>
              <a:rPr lang="en-US" sz="1600" dirty="0">
                <a:solidFill>
                  <a:srgbClr val="333333"/>
                </a:solidFill>
              </a:rPr>
              <a:t>AI algorithms are proving exceptionally adept at analyzing medical images such as X-rays, CT scans, and MRIs. These systems can detect subtle anomalies that might be missed by the human eye, leading to earlier and more accurate diagnoses of diseases like cancer, diabetic retinopathy, and cardiovascular conditions.</a:t>
            </a:r>
            <a:endParaRPr lang="en-US" sz="1600" dirty="0"/>
          </a:p>
        </p:txBody>
      </p:sp>
      <p:sp>
        <p:nvSpPr>
          <p:cNvPr id="5" name="Text 3"/>
          <p:cNvSpPr/>
          <p:nvPr/>
        </p:nvSpPr>
        <p:spPr>
          <a:xfrm>
            <a:off x="822960" y="2468880"/>
            <a:ext cx="6858000" cy="0"/>
          </a:xfrm>
          <a:prstGeom prst="rect">
            <a:avLst/>
          </a:prstGeom>
          <a:noFill/>
          <a:ln/>
        </p:spPr>
        <p:txBody>
          <a:bodyPr wrap="square" rtlCol="0" anchor="ctr"/>
          <a:lstStyle/>
          <a:p>
            <a:pPr marL="342900" indent="-342900">
              <a:buSzPct val="100000"/>
              <a:buChar char="•"/>
            </a:pPr>
            <a:r>
              <a:rPr lang="en-US" sz="1600" dirty="0">
                <a:solidFill>
                  <a:srgbClr val="111111"/>
                </a:solidFill>
              </a:rPr>
              <a:t>• Early detection of diseases</a:t>
            </a:r>
            <a:endParaRPr lang="en-US" sz="1600" dirty="0"/>
          </a:p>
          <a:p>
            <a:pPr marL="342900" indent="-342900">
              <a:buSzPct val="100000"/>
              <a:buChar char="•"/>
            </a:pPr>
            <a:r>
              <a:rPr lang="en-US" sz="1600" dirty="0">
                <a:solidFill>
                  <a:srgbClr val="111111"/>
                </a:solidFill>
              </a:rPr>
              <a:t>• Automated image analysis</a:t>
            </a:r>
            <a:endParaRPr lang="en-US" sz="1600" dirty="0"/>
          </a:p>
          <a:p>
            <a:pPr marL="342900" indent="-342900">
              <a:buSzPct val="100000"/>
              <a:buChar char="•"/>
            </a:pPr>
            <a:r>
              <a:rPr lang="en-US" sz="1600" dirty="0">
                <a:solidFill>
                  <a:srgbClr val="111111"/>
                </a:solidFill>
              </a:rPr>
              <a:t>• Reduced radiologist workload</a:t>
            </a:r>
            <a:endParaRPr lang="en-US" sz="1600" dirty="0"/>
          </a:p>
          <a:p>
            <a:pPr marL="342900" indent="-342900">
              <a:buSzPct val="100000"/>
              <a:buChar char="•"/>
            </a:pPr>
            <a:r>
              <a:rPr lang="en-US" sz="1600" dirty="0">
                <a:solidFill>
                  <a:srgbClr val="111111"/>
                </a:solidFill>
              </a:rPr>
              <a:t>• Identification of complex patterns</a:t>
            </a:r>
            <a:endParaRPr lang="en-US" sz="1600" dirty="0"/>
          </a:p>
          <a:p>
            <a:pPr marL="342900" indent="-342900">
              <a:buSzPct val="100000"/>
              <a:buChar char="•"/>
            </a:pPr>
            <a:r>
              <a:rPr lang="en-US" sz="1600" dirty="0">
                <a:solidFill>
                  <a:srgbClr val="111111"/>
                </a:solidFill>
              </a:rPr>
              <a:t>• Quantification of disease progression</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365760"/>
            <a:ext cx="6858000" cy="0"/>
          </a:xfrm>
          <a:prstGeom prst="rect">
            <a:avLst/>
          </a:prstGeom>
          <a:noFill/>
          <a:ln/>
        </p:spPr>
        <p:txBody>
          <a:bodyPr wrap="square" rtlCol="0" anchor="ctr"/>
          <a:lstStyle/>
          <a:p>
            <a:pPr indent="0" marL="0">
              <a:buNone/>
            </a:pPr>
            <a:r>
              <a:rPr lang="en-US" sz="2400" b="1" dirty="0">
                <a:solidFill>
                  <a:srgbClr val="003366"/>
                </a:solidFill>
              </a:rPr>
              <a:t>AI in Drug Discovery and Development</a:t>
            </a:r>
            <a:endParaRPr lang="en-US" sz="2400" dirty="0"/>
          </a:p>
        </p:txBody>
      </p:sp>
      <p:sp>
        <p:nvSpPr>
          <p:cNvPr id="3" name="Text 1"/>
          <p:cNvSpPr/>
          <p:nvPr/>
        </p:nvSpPr>
        <p:spPr>
          <a:xfrm>
            <a:off x="640080" y="1097280"/>
            <a:ext cx="6858000" cy="0"/>
          </a:xfrm>
          <a:prstGeom prst="rect">
            <a:avLst/>
          </a:prstGeom>
          <a:noFill/>
          <a:ln/>
        </p:spPr>
        <p:txBody>
          <a:bodyPr wrap="square" rtlCol="0" anchor="ctr"/>
          <a:lstStyle/>
          <a:p>
            <a:pPr indent="0" marL="0">
              <a:buNone/>
            </a:pPr>
            <a:r>
              <a:rPr lang="en-US" sz="2000" b="1" dirty="0">
                <a:solidFill>
                  <a:srgbClr val="0055A5"/>
                </a:solidFill>
              </a:rPr>
              <a:t>Accelerating Pharmaceutical Innovation</a:t>
            </a:r>
            <a:endParaRPr lang="en-US" sz="2000" dirty="0"/>
          </a:p>
        </p:txBody>
      </p:sp>
      <p:sp>
        <p:nvSpPr>
          <p:cNvPr id="4" name="Text 2"/>
          <p:cNvSpPr/>
          <p:nvPr/>
        </p:nvSpPr>
        <p:spPr>
          <a:xfrm>
            <a:off x="640080" y="1554480"/>
            <a:ext cx="6858000" cy="0"/>
          </a:xfrm>
          <a:prstGeom prst="rect">
            <a:avLst/>
          </a:prstGeom>
          <a:noFill/>
          <a:ln/>
        </p:spPr>
        <p:txBody>
          <a:bodyPr wrap="square" rtlCol="0" anchor="ctr"/>
          <a:lstStyle/>
          <a:p>
            <a:pPr indent="0" marL="0">
              <a:lnSpc>
                <a:spcPts val="2000"/>
              </a:lnSpc>
              <a:buNone/>
            </a:pPr>
            <a:r>
              <a:rPr lang="en-US" sz="1600" dirty="0">
                <a:solidFill>
                  <a:srgbClr val="333333"/>
                </a:solidFill>
              </a:rPr>
              <a:t>The process of discovering and developing new drugs is notoriously long and expensive. AI can significantly expedite this by analyzing vast datasets of biological and chemical information to identify potential drug candidates, predict their efficacy and toxicity, and optimize clinical trial design. This leads to faster availability of life-saving medications.</a:t>
            </a:r>
            <a:endParaRPr lang="en-US" sz="1600" dirty="0"/>
          </a:p>
        </p:txBody>
      </p:sp>
      <p:sp>
        <p:nvSpPr>
          <p:cNvPr id="5" name="Text 3"/>
          <p:cNvSpPr/>
          <p:nvPr/>
        </p:nvSpPr>
        <p:spPr>
          <a:xfrm>
            <a:off x="822960" y="2468880"/>
            <a:ext cx="6858000" cy="0"/>
          </a:xfrm>
          <a:prstGeom prst="rect">
            <a:avLst/>
          </a:prstGeom>
          <a:noFill/>
          <a:ln/>
        </p:spPr>
        <p:txBody>
          <a:bodyPr wrap="square" rtlCol="0" anchor="ctr"/>
          <a:lstStyle/>
          <a:p>
            <a:pPr marL="342900" indent="-342900">
              <a:buSzPct val="100000"/>
              <a:buChar char="•"/>
            </a:pPr>
            <a:r>
              <a:rPr lang="en-US" sz="1600" dirty="0">
                <a:solidFill>
                  <a:srgbClr val="111111"/>
                </a:solidFill>
              </a:rPr>
              <a:t>• Identifying novel drug targets</a:t>
            </a:r>
            <a:endParaRPr lang="en-US" sz="1600" dirty="0"/>
          </a:p>
          <a:p>
            <a:pPr marL="342900" indent="-342900">
              <a:buSzPct val="100000"/>
              <a:buChar char="•"/>
            </a:pPr>
            <a:r>
              <a:rPr lang="en-US" sz="1600" dirty="0">
                <a:solidFill>
                  <a:srgbClr val="111111"/>
                </a:solidFill>
              </a:rPr>
              <a:t>• Predicting drug-target interactions</a:t>
            </a:r>
            <a:endParaRPr lang="en-US" sz="1600" dirty="0"/>
          </a:p>
          <a:p>
            <a:pPr marL="342900" indent="-342900">
              <a:buSzPct val="100000"/>
              <a:buChar char="•"/>
            </a:pPr>
            <a:r>
              <a:rPr lang="en-US" sz="1600" dirty="0">
                <a:solidFill>
                  <a:srgbClr val="111111"/>
                </a:solidFill>
              </a:rPr>
              <a:t>• Designing new molecular structures</a:t>
            </a:r>
            <a:endParaRPr lang="en-US" sz="1600" dirty="0"/>
          </a:p>
          <a:p>
            <a:pPr marL="342900" indent="-342900">
              <a:buSzPct val="100000"/>
              <a:buChar char="•"/>
            </a:pPr>
            <a:r>
              <a:rPr lang="en-US" sz="1600" dirty="0">
                <a:solidFill>
                  <a:srgbClr val="111111"/>
                </a:solidFill>
              </a:rPr>
              <a:t>• Optimizing clinical trial design</a:t>
            </a:r>
            <a:endParaRPr lang="en-US" sz="1600" dirty="0"/>
          </a:p>
          <a:p>
            <a:pPr marL="342900" indent="-342900">
              <a:buSzPct val="100000"/>
              <a:buChar char="•"/>
            </a:pPr>
            <a:r>
              <a:rPr lang="en-US" sz="1600" dirty="0">
                <a:solidFill>
                  <a:srgbClr val="111111"/>
                </a:solidFill>
              </a:rPr>
              <a:t>• Reducing R&amp;D costs and timelines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365760"/>
            <a:ext cx="6858000" cy="0"/>
          </a:xfrm>
          <a:prstGeom prst="rect">
            <a:avLst/>
          </a:prstGeom>
          <a:noFill/>
          <a:ln/>
        </p:spPr>
        <p:txBody>
          <a:bodyPr wrap="square" rtlCol="0" anchor="ctr"/>
          <a:lstStyle/>
          <a:p>
            <a:pPr indent="0" marL="0">
              <a:buNone/>
            </a:pPr>
            <a:r>
              <a:rPr lang="en-US" sz="2400" b="1" dirty="0">
                <a:solidFill>
                  <a:srgbClr val="003366"/>
                </a:solidFill>
              </a:rPr>
              <a:t>Personalized Medicine and Treatment</a:t>
            </a:r>
            <a:endParaRPr lang="en-US" sz="2400" dirty="0"/>
          </a:p>
        </p:txBody>
      </p:sp>
      <p:sp>
        <p:nvSpPr>
          <p:cNvPr id="3" name="Text 1"/>
          <p:cNvSpPr/>
          <p:nvPr/>
        </p:nvSpPr>
        <p:spPr>
          <a:xfrm>
            <a:off x="640080" y="1097280"/>
            <a:ext cx="6858000" cy="0"/>
          </a:xfrm>
          <a:prstGeom prst="rect">
            <a:avLst/>
          </a:prstGeom>
          <a:noFill/>
          <a:ln/>
        </p:spPr>
        <p:txBody>
          <a:bodyPr wrap="square" rtlCol="0" anchor="ctr"/>
          <a:lstStyle/>
          <a:p>
            <a:pPr indent="0" marL="0">
              <a:buNone/>
            </a:pPr>
            <a:r>
              <a:rPr lang="en-US" sz="2000" b="1" dirty="0">
                <a:solidFill>
                  <a:srgbClr val="0055A5"/>
                </a:solidFill>
              </a:rPr>
              <a:t>Tailoring Treatments to Individuals</a:t>
            </a:r>
            <a:endParaRPr lang="en-US" sz="2000" dirty="0"/>
          </a:p>
        </p:txBody>
      </p:sp>
      <p:sp>
        <p:nvSpPr>
          <p:cNvPr id="4" name="Text 2"/>
          <p:cNvSpPr/>
          <p:nvPr/>
        </p:nvSpPr>
        <p:spPr>
          <a:xfrm>
            <a:off x="640080" y="1554480"/>
            <a:ext cx="6858000" cy="0"/>
          </a:xfrm>
          <a:prstGeom prst="rect">
            <a:avLst/>
          </a:prstGeom>
          <a:noFill/>
          <a:ln/>
        </p:spPr>
        <p:txBody>
          <a:bodyPr wrap="square" rtlCol="0" anchor="ctr"/>
          <a:lstStyle/>
          <a:p>
            <a:pPr indent="0" marL="0">
              <a:lnSpc>
                <a:spcPts val="2000"/>
              </a:lnSpc>
              <a:buNone/>
            </a:pPr>
            <a:r>
              <a:rPr lang="en-US" sz="1600" dirty="0">
                <a:solidFill>
                  <a:srgbClr val="333333"/>
                </a:solidFill>
              </a:rPr>
              <a:t>AI enables a shift towards personalized medicine, where treatments are tailored to an individual's unique genetic makeup, lifestyle, and environmental factors. By analyzing a patient's comprehensive data, AI can predict their response to different therapies, recommend the most effective treatment, and adjust dosages for optimal outcomes, minimizing side effects.</a:t>
            </a:r>
            <a:endParaRPr lang="en-US" sz="1600" dirty="0"/>
          </a:p>
        </p:txBody>
      </p:sp>
      <p:sp>
        <p:nvSpPr>
          <p:cNvPr id="5" name="Text 3"/>
          <p:cNvSpPr/>
          <p:nvPr/>
        </p:nvSpPr>
        <p:spPr>
          <a:xfrm>
            <a:off x="822960" y="2468880"/>
            <a:ext cx="6858000" cy="0"/>
          </a:xfrm>
          <a:prstGeom prst="rect">
            <a:avLst/>
          </a:prstGeom>
          <a:noFill/>
          <a:ln/>
        </p:spPr>
        <p:txBody>
          <a:bodyPr wrap="square" rtlCol="0" anchor="ctr"/>
          <a:lstStyle/>
          <a:p>
            <a:pPr marL="342900" indent="-342900">
              <a:buSzPct val="100000"/>
              <a:buChar char="•"/>
            </a:pPr>
            <a:r>
              <a:rPr lang="en-US" sz="1600" dirty="0">
                <a:solidFill>
                  <a:srgbClr val="111111"/>
                </a:solidFill>
              </a:rPr>
              <a:t>• Predicting patient response to therapies</a:t>
            </a:r>
            <a:endParaRPr lang="en-US" sz="1600" dirty="0"/>
          </a:p>
          <a:p>
            <a:pPr marL="342900" indent="-342900">
              <a:buSzPct val="100000"/>
              <a:buChar char="•"/>
            </a:pPr>
            <a:r>
              <a:rPr lang="en-US" sz="1600" dirty="0">
                <a:solidFill>
                  <a:srgbClr val="111111"/>
                </a:solidFill>
              </a:rPr>
              <a:t>• Optimizing drug dosages</a:t>
            </a:r>
            <a:endParaRPr lang="en-US" sz="1600" dirty="0"/>
          </a:p>
          <a:p>
            <a:pPr marL="342900" indent="-342900">
              <a:buSzPct val="100000"/>
              <a:buChar char="•"/>
            </a:pPr>
            <a:r>
              <a:rPr lang="en-US" sz="1600" dirty="0">
                <a:solidFill>
                  <a:srgbClr val="111111"/>
                </a:solidFill>
              </a:rPr>
              <a:t>• Identifying genetic predispositions</a:t>
            </a:r>
            <a:endParaRPr lang="en-US" sz="1600" dirty="0"/>
          </a:p>
          <a:p>
            <a:pPr marL="342900" indent="-342900">
              <a:buSzPct val="100000"/>
              <a:buChar char="•"/>
            </a:pPr>
            <a:r>
              <a:rPr lang="en-US" sz="1600" dirty="0">
                <a:solidFill>
                  <a:srgbClr val="111111"/>
                </a:solidFill>
              </a:rPr>
              <a:t>• Developing customized treatment plans</a:t>
            </a:r>
            <a:endParaRPr lang="en-US" sz="1600" dirty="0"/>
          </a:p>
          <a:p>
            <a:pPr marL="342900" indent="-342900">
              <a:buSzPct val="100000"/>
              <a:buChar char="•"/>
            </a:pPr>
            <a:r>
              <a:rPr lang="en-US" sz="1600" dirty="0">
                <a:solidFill>
                  <a:srgbClr val="111111"/>
                </a:solidFill>
              </a:rPr>
              <a:t>• Minimizing adverse drug reactions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365760"/>
            <a:ext cx="6858000" cy="0"/>
          </a:xfrm>
          <a:prstGeom prst="rect">
            <a:avLst/>
          </a:prstGeom>
          <a:noFill/>
          <a:ln/>
        </p:spPr>
        <p:txBody>
          <a:bodyPr wrap="square" rtlCol="0" anchor="ctr"/>
          <a:lstStyle/>
          <a:p>
            <a:pPr indent="0" marL="0">
              <a:buNone/>
            </a:pPr>
            <a:r>
              <a:rPr lang="en-US" sz="2400" b="1" dirty="0">
                <a:solidFill>
                  <a:srgbClr val="003366"/>
                </a:solidFill>
              </a:rPr>
              <a:t>AI for Administrative Efficiency and Patient Engagement</a:t>
            </a:r>
            <a:endParaRPr lang="en-US" sz="2400" dirty="0"/>
          </a:p>
        </p:txBody>
      </p:sp>
      <p:sp>
        <p:nvSpPr>
          <p:cNvPr id="3" name="Text 1"/>
          <p:cNvSpPr/>
          <p:nvPr/>
        </p:nvSpPr>
        <p:spPr>
          <a:xfrm>
            <a:off x="640080" y="1097280"/>
            <a:ext cx="6858000" cy="0"/>
          </a:xfrm>
          <a:prstGeom prst="rect">
            <a:avLst/>
          </a:prstGeom>
          <a:noFill/>
          <a:ln/>
        </p:spPr>
        <p:txBody>
          <a:bodyPr wrap="square" rtlCol="0" anchor="ctr"/>
          <a:lstStyle/>
          <a:p>
            <a:pPr indent="0" marL="0">
              <a:buNone/>
            </a:pPr>
            <a:r>
              <a:rPr lang="en-US" sz="2000" b="1" dirty="0">
                <a:solidFill>
                  <a:srgbClr val="0055A5"/>
                </a:solidFill>
              </a:rPr>
              <a:t>Streamlining Operations and Enhancing Experience</a:t>
            </a:r>
            <a:endParaRPr lang="en-US" sz="2000" dirty="0"/>
          </a:p>
        </p:txBody>
      </p:sp>
      <p:sp>
        <p:nvSpPr>
          <p:cNvPr id="4" name="Text 2"/>
          <p:cNvSpPr/>
          <p:nvPr/>
        </p:nvSpPr>
        <p:spPr>
          <a:xfrm>
            <a:off x="640080" y="1554480"/>
            <a:ext cx="6858000" cy="0"/>
          </a:xfrm>
          <a:prstGeom prst="rect">
            <a:avLst/>
          </a:prstGeom>
          <a:noFill/>
          <a:ln/>
        </p:spPr>
        <p:txBody>
          <a:bodyPr wrap="square" rtlCol="0" anchor="ctr"/>
          <a:lstStyle/>
          <a:p>
            <a:pPr indent="0" marL="0">
              <a:lnSpc>
                <a:spcPts val="2000"/>
              </a:lnSpc>
              <a:buNone/>
            </a:pPr>
            <a:r>
              <a:rPr lang="en-US" sz="1600" dirty="0">
                <a:solidFill>
                  <a:srgbClr val="333333"/>
                </a:solidFill>
              </a:rPr>
              <a:t>Beyond clinical applications, AI is also transforming the administrative side of healthcare. It can automate tasks like scheduling, billing, and record-keeping, freeing up healthcare professionals to focus on patient care. Furthermore, AI-powered chatbots and virtual assistants can improve patient engagement by providing information, answering queries, and offering support.</a:t>
            </a:r>
            <a:endParaRPr lang="en-US" sz="1600" dirty="0"/>
          </a:p>
        </p:txBody>
      </p:sp>
      <p:sp>
        <p:nvSpPr>
          <p:cNvPr id="5" name="Text 3"/>
          <p:cNvSpPr/>
          <p:nvPr/>
        </p:nvSpPr>
        <p:spPr>
          <a:xfrm>
            <a:off x="822960" y="2468880"/>
            <a:ext cx="6858000" cy="0"/>
          </a:xfrm>
          <a:prstGeom prst="rect">
            <a:avLst/>
          </a:prstGeom>
          <a:noFill/>
          <a:ln/>
        </p:spPr>
        <p:txBody>
          <a:bodyPr wrap="square" rtlCol="0" anchor="ctr"/>
          <a:lstStyle/>
          <a:p>
            <a:pPr marL="342900" indent="-342900">
              <a:buSzPct val="100000"/>
              <a:buChar char="•"/>
            </a:pPr>
            <a:r>
              <a:rPr lang="en-US" sz="1600" dirty="0">
                <a:solidFill>
                  <a:srgbClr val="111111"/>
                </a:solidFill>
              </a:rPr>
              <a:t>• Automating appointment scheduling</a:t>
            </a:r>
            <a:endParaRPr lang="en-US" sz="1600" dirty="0"/>
          </a:p>
          <a:p>
            <a:pPr marL="342900" indent="-342900">
              <a:buSzPct val="100000"/>
              <a:buChar char="•"/>
            </a:pPr>
            <a:r>
              <a:rPr lang="en-US" sz="1600" dirty="0">
                <a:solidFill>
                  <a:srgbClr val="111111"/>
                </a:solidFill>
              </a:rPr>
              <a:t>• Improving medical billing processes</a:t>
            </a:r>
            <a:endParaRPr lang="en-US" sz="1600" dirty="0"/>
          </a:p>
          <a:p>
            <a:pPr marL="342900" indent="-342900">
              <a:buSzPct val="100000"/>
              <a:buChar char="•"/>
            </a:pPr>
            <a:r>
              <a:rPr lang="en-US" sz="1600" dirty="0">
                <a:solidFill>
                  <a:srgbClr val="111111"/>
                </a:solidFill>
              </a:rPr>
              <a:t>• Managing electronic health records</a:t>
            </a:r>
            <a:endParaRPr lang="en-US" sz="1600" dirty="0"/>
          </a:p>
          <a:p>
            <a:pPr marL="342900" indent="-342900">
              <a:buSzPct val="100000"/>
              <a:buChar char="•"/>
            </a:pPr>
            <a:r>
              <a:rPr lang="en-US" sz="1600" dirty="0">
                <a:solidFill>
                  <a:srgbClr val="111111"/>
                </a:solidFill>
              </a:rPr>
              <a:t>• Providing 24/7 patient support via chatbots</a:t>
            </a:r>
            <a:endParaRPr lang="en-US" sz="1600" dirty="0"/>
          </a:p>
          <a:p>
            <a:pPr marL="342900" indent="-342900">
              <a:buSzPct val="100000"/>
              <a:buChar char="•"/>
            </a:pPr>
            <a:r>
              <a:rPr lang="en-US" sz="1600" dirty="0">
                <a:solidFill>
                  <a:srgbClr val="111111"/>
                </a:solidFill>
              </a:rPr>
              <a:t>• Reducing administrative overhead</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AI in Healthcare</dc:creator>
  <cp:lastModifiedBy>AI in Healthcare</cp:lastModifiedBy>
  <cp:revision>1</cp:revision>
  <dcterms:created xsi:type="dcterms:W3CDTF">2025-11-01T18:54:51Z</dcterms:created>
  <dcterms:modified xsi:type="dcterms:W3CDTF">2025-11-01T18:54:51Z</dcterms:modified>
</cp:coreProperties>
</file>