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000" b="1" dirty="0">
                <a:solidFill>
                  <a:srgbClr val="003366"/>
                </a:solidFill>
              </a:rPr>
              <a:t>AI in Healthcare</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Introduction to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Transforming Patient Care</a:t>
            </a:r>
            <a:endParaRPr lang="en-US" sz="2000" dirty="0"/>
          </a:p>
        </p:txBody>
      </p:sp>
      <p:sp>
        <p:nvSpPr>
          <p:cNvPr id="4" name="Text 2"/>
          <p:cNvSpPr txBox="1"/>
          <p:nvPr/>
        </p:nvSpPr>
        <p:spPr>
          <a:xfrm>
            <a:off x="640080" y="1828800"/>
            <a:ext cx="7772400" cy="1143000"/>
          </a:xfrm>
          <a:prstGeom prst="rect">
            <a:avLst/>
          </a:prstGeom>
          <a:noFill/>
          <a:ln/>
        </p:spPr>
        <p:txBody>
          <a:bodyPr wrap="square" rtlCol="0" anchor="t"/>
          <a:lstStyle/>
          <a:p>
            <a:pPr indent="0" marL="0">
              <a:lnSpc>
                <a:spcPts val="2000"/>
              </a:lnSpc>
              <a:buNone/>
            </a:pPr>
            <a:r>
              <a:rPr lang="en-US" sz="1600" dirty="0">
                <a:solidFill>
                  <a:srgbClr val="333333"/>
                </a:solidFill>
              </a:rPr>
              <a:t>Artificial Intelligence (AI) is rapidly revolutionizing the healthcare industry by offering innovative solutions to complex challenges. From improving diagnostic accuracy to personalizing treatment plans, AI is enhancing efficiency, reducing costs, and ultimately leading to better patient outcomes. This presentation explores key applications and benefits of AI in modern healthcare.</a:t>
            </a:r>
            <a:endParaRPr lang="en-US" sz="1600" dirty="0"/>
          </a:p>
        </p:txBody>
      </p:sp>
      <p:sp>
        <p:nvSpPr>
          <p:cNvPr id="5" name="Text 3"/>
          <p:cNvSpPr/>
          <p:nvPr/>
        </p:nvSpPr>
        <p:spPr>
          <a:xfrm>
            <a:off x="822960" y="3246120"/>
            <a:ext cx="7772400" cy="0"/>
          </a:xfrm>
          <a:prstGeom prst="rect">
            <a:avLst/>
          </a:prstGeom>
          <a:noFill/>
          <a:ln/>
        </p:spPr>
        <p:txBody>
          <a:bodyPr wrap="square" rtlCol="0" anchor="ctr"/>
          <a:lstStyle/>
          <a:p>
            <a:pPr indent="0" marL="0">
              <a:lnSpc>
                <a:spcPts val="1800"/>
              </a:lnSpc>
              <a:buNone/>
            </a:pPr>
            <a:r>
              <a:rPr lang="en-US" sz="1600" dirty="0">
                <a:solidFill>
                  <a:srgbClr val="111111"/>
                </a:solidFill>
              </a:rPr>
              <a:t>• Enhanced Diagnostics</a:t>
            </a:r>
            <a:endParaRPr lang="en-US" sz="1600" dirty="0"/>
          </a:p>
          <a:p>
            <a:pPr indent="0" marL="0">
              <a:lnSpc>
                <a:spcPts val="1800"/>
              </a:lnSpc>
              <a:buNone/>
            </a:pPr>
            <a:r>
              <a:rPr lang="en-US" sz="1600" dirty="0">
                <a:solidFill>
                  <a:srgbClr val="111111"/>
                </a:solidFill>
              </a:rPr>
              <a:t>• Personalized Medicine</a:t>
            </a:r>
            <a:endParaRPr lang="en-US" sz="1600" dirty="0"/>
          </a:p>
          <a:p>
            <a:pPr indent="0" marL="0">
              <a:lnSpc>
                <a:spcPts val="1800"/>
              </a:lnSpc>
              <a:buNone/>
            </a:pPr>
            <a:r>
              <a:rPr lang="en-US" sz="1600" dirty="0">
                <a:solidFill>
                  <a:srgbClr val="111111"/>
                </a:solidFill>
              </a:rPr>
              <a:t>• Drug Discovery Acceleration</a:t>
            </a:r>
            <a:endParaRPr lang="en-US" sz="1600" dirty="0"/>
          </a:p>
          <a:p>
            <a:pPr indent="0" marL="0">
              <a:lnSpc>
                <a:spcPts val="1800"/>
              </a:lnSpc>
              <a:buNone/>
            </a:pPr>
            <a:r>
              <a:rPr lang="en-US" sz="1600" dirty="0">
                <a:solidFill>
                  <a:srgbClr val="111111"/>
                </a:solidFill>
              </a:rPr>
              <a:t>• Streamlined Administrative Tasks</a:t>
            </a:r>
            <a:endParaRPr lang="en-US" sz="1600" dirty="0"/>
          </a:p>
          <a:p>
            <a:pPr indent="0" marL="0">
              <a:lnSpc>
                <a:spcPts val="1800"/>
              </a:lnSpc>
              <a:buNone/>
            </a:pPr>
            <a:r>
              <a:rPr lang="en-US" sz="1600" dirty="0">
                <a:solidFill>
                  <a:srgbClr val="111111"/>
                </a:solidFill>
              </a:rPr>
              <a:t>• Improved Patient Monitoring</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for Diagnostics and Imaging</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Precision in Detection</a:t>
            </a:r>
            <a:endParaRPr lang="en-US" sz="2000" dirty="0"/>
          </a:p>
        </p:txBody>
      </p:sp>
      <p:sp>
        <p:nvSpPr>
          <p:cNvPr id="4" name="Text 2"/>
          <p:cNvSpPr txBox="1"/>
          <p:nvPr/>
        </p:nvSpPr>
        <p:spPr>
          <a:xfrm>
            <a:off x="640080" y="1828800"/>
            <a:ext cx="7772400" cy="1143000"/>
          </a:xfrm>
          <a:prstGeom prst="rect">
            <a:avLst/>
          </a:prstGeom>
          <a:noFill/>
          <a:ln/>
        </p:spPr>
        <p:txBody>
          <a:bodyPr wrap="square" rtlCol="0" anchor="t"/>
          <a:lstStyle/>
          <a:p>
            <a:pPr indent="0" marL="0">
              <a:lnSpc>
                <a:spcPts val="2000"/>
              </a:lnSpc>
              <a:buNone/>
            </a:pPr>
            <a:r>
              <a:rPr lang="en-US" sz="1600" dirty="0">
                <a:solidFill>
                  <a:srgbClr val="333333"/>
                </a:solidFill>
              </a:rPr>
              <a:t>AI algorithms, particularly deep learning models, are proving exceptionally adept at analyzing medical images such as X-rays, CT scans, and MRIs. These systems can identify subtle patterns and anomalies that might be missed by the human eye, leading to earlier and more accurate diagnoses of diseases like cancer, diabetic retinopathy, and cardiovascular conditions.</a:t>
            </a:r>
            <a:endParaRPr lang="en-US" sz="1600" dirty="0"/>
          </a:p>
        </p:txBody>
      </p:sp>
      <p:sp>
        <p:nvSpPr>
          <p:cNvPr id="5" name="Text 3"/>
          <p:cNvSpPr/>
          <p:nvPr/>
        </p:nvSpPr>
        <p:spPr>
          <a:xfrm>
            <a:off x="822960" y="3246120"/>
            <a:ext cx="7772400" cy="0"/>
          </a:xfrm>
          <a:prstGeom prst="rect">
            <a:avLst/>
          </a:prstGeom>
          <a:noFill/>
          <a:ln/>
        </p:spPr>
        <p:txBody>
          <a:bodyPr wrap="square" rtlCol="0" anchor="ctr"/>
          <a:lstStyle/>
          <a:p>
            <a:pPr indent="0" marL="0">
              <a:lnSpc>
                <a:spcPts val="1800"/>
              </a:lnSpc>
              <a:buNone/>
            </a:pPr>
            <a:r>
              <a:rPr lang="en-US" sz="1600" dirty="0">
                <a:solidFill>
                  <a:srgbClr val="111111"/>
                </a:solidFill>
              </a:rPr>
              <a:t>• Early Cancer Detection</a:t>
            </a:r>
            <a:endParaRPr lang="en-US" sz="1600" dirty="0"/>
          </a:p>
          <a:p>
            <a:pPr indent="0" marL="0">
              <a:lnSpc>
                <a:spcPts val="1800"/>
              </a:lnSpc>
              <a:buNone/>
            </a:pPr>
            <a:r>
              <a:rPr lang="en-US" sz="1600" dirty="0">
                <a:solidFill>
                  <a:srgbClr val="111111"/>
                </a:solidFill>
              </a:rPr>
              <a:t>• Diabetic Retinopathy Screening</a:t>
            </a:r>
            <a:endParaRPr lang="en-US" sz="1600" dirty="0"/>
          </a:p>
          <a:p>
            <a:pPr indent="0" marL="0">
              <a:lnSpc>
                <a:spcPts val="1800"/>
              </a:lnSpc>
              <a:buNone/>
            </a:pPr>
            <a:r>
              <a:rPr lang="en-US" sz="1600" dirty="0">
                <a:solidFill>
                  <a:srgbClr val="111111"/>
                </a:solidFill>
              </a:rPr>
              <a:t>• Cardiovascular Disease Identification</a:t>
            </a:r>
            <a:endParaRPr lang="en-US" sz="1600" dirty="0"/>
          </a:p>
          <a:p>
            <a:pPr indent="0" marL="0">
              <a:lnSpc>
                <a:spcPts val="1800"/>
              </a:lnSpc>
              <a:buNone/>
            </a:pPr>
            <a:r>
              <a:rPr lang="en-US" sz="1600" dirty="0">
                <a:solidFill>
                  <a:srgbClr val="111111"/>
                </a:solidFill>
              </a:rPr>
              <a:t>• Radiology Image Analysis</a:t>
            </a:r>
            <a:endParaRPr lang="en-US" sz="1600" dirty="0"/>
          </a:p>
          <a:p>
            <a:pPr indent="0" marL="0">
              <a:lnSpc>
                <a:spcPts val="1800"/>
              </a:lnSpc>
              <a:buNone/>
            </a:pPr>
            <a:r>
              <a:rPr lang="en-US" sz="1600" dirty="0">
                <a:solidFill>
                  <a:srgbClr val="111111"/>
                </a:solidFill>
              </a:rPr>
              <a:t>• Pathology Slide Interpretation</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Personalized Medicine and Treatment</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Tailoring Therapies to Individuals</a:t>
            </a:r>
            <a:endParaRPr lang="en-US" sz="2000" dirty="0"/>
          </a:p>
        </p:txBody>
      </p:sp>
      <p:sp>
        <p:nvSpPr>
          <p:cNvPr id="4" name="Text 2"/>
          <p:cNvSpPr txBox="1"/>
          <p:nvPr/>
        </p:nvSpPr>
        <p:spPr>
          <a:xfrm>
            <a:off x="640080" y="1828800"/>
            <a:ext cx="7772400" cy="1371600"/>
          </a:xfrm>
          <a:prstGeom prst="rect">
            <a:avLst/>
          </a:prstGeom>
          <a:noFill/>
          <a:ln/>
        </p:spPr>
        <p:txBody>
          <a:bodyPr wrap="square" rtlCol="0" anchor="t"/>
          <a:lstStyle/>
          <a:p>
            <a:pPr indent="0" marL="0">
              <a:lnSpc>
                <a:spcPts val="2000"/>
              </a:lnSpc>
              <a:buNone/>
            </a:pPr>
            <a:r>
              <a:rPr lang="en-US" sz="1600" dirty="0">
                <a:solidFill>
                  <a:srgbClr val="333333"/>
                </a:solidFill>
              </a:rPr>
              <a:t>AI plays a crucial role in the advancement of personalized medicine. By analyzing vast datasets including patient genomics, lifestyle factors, and treatment responses, AI can predict how an individual might respond to different therapies. This allows healthcare providers to tailor treatment plans, optimize drug dosages, and select the most effective interventions for each patient, minimizing side effects and maximizing efficacy.</a:t>
            </a:r>
            <a:endParaRPr lang="en-US" sz="1600" dirty="0"/>
          </a:p>
        </p:txBody>
      </p:sp>
      <p:sp>
        <p:nvSpPr>
          <p:cNvPr id="5" name="Text 3"/>
          <p:cNvSpPr/>
          <p:nvPr/>
        </p:nvSpPr>
        <p:spPr>
          <a:xfrm>
            <a:off x="822960" y="3474720"/>
            <a:ext cx="7772400" cy="0"/>
          </a:xfrm>
          <a:prstGeom prst="rect">
            <a:avLst/>
          </a:prstGeom>
          <a:noFill/>
          <a:ln/>
        </p:spPr>
        <p:txBody>
          <a:bodyPr wrap="square" rtlCol="0" anchor="ctr"/>
          <a:lstStyle/>
          <a:p>
            <a:pPr indent="0" marL="0">
              <a:lnSpc>
                <a:spcPts val="1800"/>
              </a:lnSpc>
              <a:buNone/>
            </a:pPr>
            <a:r>
              <a:rPr lang="en-US" sz="1600" dirty="0">
                <a:solidFill>
                  <a:srgbClr val="111111"/>
                </a:solidFill>
              </a:rPr>
              <a:t>• Genomic Data Analysis</a:t>
            </a:r>
            <a:endParaRPr lang="en-US" sz="1600" dirty="0"/>
          </a:p>
          <a:p>
            <a:pPr indent="0" marL="0">
              <a:lnSpc>
                <a:spcPts val="1800"/>
              </a:lnSpc>
              <a:buNone/>
            </a:pPr>
            <a:r>
              <a:rPr lang="en-US" sz="1600" dirty="0">
                <a:solidFill>
                  <a:srgbClr val="111111"/>
                </a:solidFill>
              </a:rPr>
              <a:t>• Predicting Treatment Efficacy</a:t>
            </a:r>
            <a:endParaRPr lang="en-US" sz="1600" dirty="0"/>
          </a:p>
          <a:p>
            <a:pPr indent="0" marL="0">
              <a:lnSpc>
                <a:spcPts val="1800"/>
              </a:lnSpc>
              <a:buNone/>
            </a:pPr>
            <a:r>
              <a:rPr lang="en-US" sz="1600" dirty="0">
                <a:solidFill>
                  <a:srgbClr val="111111"/>
                </a:solidFill>
              </a:rPr>
              <a:t>• Optimizing Drug Dosages</a:t>
            </a:r>
            <a:endParaRPr lang="en-US" sz="1600" dirty="0"/>
          </a:p>
          <a:p>
            <a:pPr indent="0" marL="0">
              <a:lnSpc>
                <a:spcPts val="1800"/>
              </a:lnSpc>
              <a:buNone/>
            </a:pPr>
            <a:r>
              <a:rPr lang="en-US" sz="1600" dirty="0">
                <a:solidFill>
                  <a:srgbClr val="111111"/>
                </a:solidFill>
              </a:rPr>
              <a:t>• Identifying High-Risk Patients</a:t>
            </a:r>
            <a:endParaRPr lang="en-US" sz="1600" dirty="0"/>
          </a:p>
          <a:p>
            <a:pPr indent="0" marL="0">
              <a:lnSpc>
                <a:spcPts val="1800"/>
              </a:lnSpc>
              <a:buNone/>
            </a:pPr>
            <a:r>
              <a:rPr lang="en-US" sz="1600" dirty="0">
                <a:solidFill>
                  <a:srgbClr val="111111"/>
                </a:solidFill>
              </a:rPr>
              <a:t>• Personalized Treatment Pathways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Drug Discovery and Development</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Accelerating Innovation</a:t>
            </a:r>
            <a:endParaRPr lang="en-US" sz="2000" dirty="0"/>
          </a:p>
        </p:txBody>
      </p:sp>
      <p:sp>
        <p:nvSpPr>
          <p:cNvPr id="4" name="Text 2"/>
          <p:cNvSpPr txBox="1"/>
          <p:nvPr/>
        </p:nvSpPr>
        <p:spPr>
          <a:xfrm>
            <a:off x="640080" y="1828800"/>
            <a:ext cx="7772400" cy="1371600"/>
          </a:xfrm>
          <a:prstGeom prst="rect">
            <a:avLst/>
          </a:prstGeom>
          <a:noFill/>
          <a:ln/>
        </p:spPr>
        <p:txBody>
          <a:bodyPr wrap="square" rtlCol="0" anchor="t"/>
          <a:lstStyle/>
          <a:p>
            <a:pPr indent="0" marL="0">
              <a:lnSpc>
                <a:spcPts val="2000"/>
              </a:lnSpc>
              <a:buNone/>
            </a:pPr>
            <a:r>
              <a:rPr lang="en-US" sz="1600" dirty="0">
                <a:solidFill>
                  <a:srgbClr val="333333"/>
                </a:solidFill>
              </a:rPr>
              <a:t>The process of discovering and developing new drugs is notoriously long, expensive, and complex. AI is significantly accelerating this process by identifying potential drug candidates, predicting their efficacy and toxicity, and optimizing clinical trial design. Machine learning models can sift through massive chemical libraries and biological data to pinpoint promising compounds, reducing the time and resources required for bringing new treatments to market.</a:t>
            </a:r>
            <a:endParaRPr lang="en-US" sz="1600" dirty="0"/>
          </a:p>
        </p:txBody>
      </p:sp>
      <p:sp>
        <p:nvSpPr>
          <p:cNvPr id="5" name="Text 3"/>
          <p:cNvSpPr/>
          <p:nvPr/>
        </p:nvSpPr>
        <p:spPr>
          <a:xfrm>
            <a:off x="822960" y="3474720"/>
            <a:ext cx="7772400" cy="0"/>
          </a:xfrm>
          <a:prstGeom prst="rect">
            <a:avLst/>
          </a:prstGeom>
          <a:noFill/>
          <a:ln/>
        </p:spPr>
        <p:txBody>
          <a:bodyPr wrap="square" rtlCol="0" anchor="ctr"/>
          <a:lstStyle/>
          <a:p>
            <a:pPr indent="0" marL="0">
              <a:lnSpc>
                <a:spcPts val="1800"/>
              </a:lnSpc>
              <a:buNone/>
            </a:pPr>
            <a:r>
              <a:rPr lang="en-US" sz="1600" dirty="0">
                <a:solidFill>
                  <a:srgbClr val="111111"/>
                </a:solidFill>
              </a:rPr>
              <a:t>• Identifying Novel Drug Targets</a:t>
            </a:r>
            <a:endParaRPr lang="en-US" sz="1600" dirty="0"/>
          </a:p>
          <a:p>
            <a:pPr indent="0" marL="0">
              <a:lnSpc>
                <a:spcPts val="1800"/>
              </a:lnSpc>
              <a:buNone/>
            </a:pPr>
            <a:r>
              <a:rPr lang="en-US" sz="1600" dirty="0">
                <a:solidFill>
                  <a:srgbClr val="111111"/>
                </a:solidFill>
              </a:rPr>
              <a:t>• Predicting Compound Efficacy</a:t>
            </a:r>
            <a:endParaRPr lang="en-US" sz="1600" dirty="0"/>
          </a:p>
          <a:p>
            <a:pPr indent="0" marL="0">
              <a:lnSpc>
                <a:spcPts val="1800"/>
              </a:lnSpc>
              <a:buNone/>
            </a:pPr>
            <a:r>
              <a:rPr lang="en-US" sz="1600" dirty="0">
                <a:solidFill>
                  <a:srgbClr val="111111"/>
                </a:solidFill>
              </a:rPr>
              <a:t>• Simulating Drug Interactions</a:t>
            </a:r>
            <a:endParaRPr lang="en-US" sz="1600" dirty="0"/>
          </a:p>
          <a:p>
            <a:pPr indent="0" marL="0">
              <a:lnSpc>
                <a:spcPts val="1800"/>
              </a:lnSpc>
              <a:buNone/>
            </a:pPr>
            <a:r>
              <a:rPr lang="en-US" sz="1600" dirty="0">
                <a:solidFill>
                  <a:srgbClr val="111111"/>
                </a:solidFill>
              </a:rPr>
              <a:t>• Optimizing Clinical Trial Design</a:t>
            </a:r>
            <a:endParaRPr lang="en-US" sz="1600" dirty="0"/>
          </a:p>
          <a:p>
            <a:pPr indent="0" marL="0">
              <a:lnSpc>
                <a:spcPts val="1800"/>
              </a:lnSpc>
              <a:buNone/>
            </a:pPr>
            <a:r>
              <a:rPr lang="en-US" sz="1600" dirty="0">
                <a:solidFill>
                  <a:srgbClr val="111111"/>
                </a:solidFill>
              </a:rPr>
              <a:t>• Repurposing Existing Drugs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Challenges and Future of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Navigating the Path Forward</a:t>
            </a:r>
            <a:endParaRPr lang="en-US" sz="2000" dirty="0"/>
          </a:p>
        </p:txBody>
      </p:sp>
      <p:sp>
        <p:nvSpPr>
          <p:cNvPr id="4" name="Text 2"/>
          <p:cNvSpPr txBox="1"/>
          <p:nvPr/>
        </p:nvSpPr>
        <p:spPr>
          <a:xfrm>
            <a:off x="640080" y="1828800"/>
            <a:ext cx="7772400" cy="1371600"/>
          </a:xfrm>
          <a:prstGeom prst="rect">
            <a:avLst/>
          </a:prstGeom>
          <a:noFill/>
          <a:ln/>
        </p:spPr>
        <p:txBody>
          <a:bodyPr wrap="square" rtlCol="0" anchor="t"/>
          <a:lstStyle/>
          <a:p>
            <a:pPr indent="0" marL="0">
              <a:lnSpc>
                <a:spcPts val="2000"/>
              </a:lnSpc>
              <a:buNone/>
            </a:pPr>
            <a:r>
              <a:rPr lang="en-US" sz="1600" dirty="0">
                <a:solidFill>
                  <a:srgbClr val="333333"/>
                </a:solidFill>
              </a:rPr>
              <a:t>While the potential of AI in healthcare is immense, several challenges need to be addressed. These include ensuring data privacy and security, establishing regulatory frameworks, addressing ethical considerations, and fostering trust among healthcare professionals and patients. Overcoming these hurdles will pave the way for broader adoption and continued innovation, leading to a more accessible, efficient, and effective healthcare system for all.</a:t>
            </a:r>
            <a:endParaRPr lang="en-US" sz="1600" dirty="0"/>
          </a:p>
        </p:txBody>
      </p:sp>
      <p:sp>
        <p:nvSpPr>
          <p:cNvPr id="5" name="Text 3"/>
          <p:cNvSpPr/>
          <p:nvPr/>
        </p:nvSpPr>
        <p:spPr>
          <a:xfrm>
            <a:off x="822960" y="3474720"/>
            <a:ext cx="7772400" cy="0"/>
          </a:xfrm>
          <a:prstGeom prst="rect">
            <a:avLst/>
          </a:prstGeom>
          <a:noFill/>
          <a:ln/>
        </p:spPr>
        <p:txBody>
          <a:bodyPr wrap="square" rtlCol="0" anchor="ctr"/>
          <a:lstStyle/>
          <a:p>
            <a:pPr indent="0" marL="0">
              <a:lnSpc>
                <a:spcPts val="1800"/>
              </a:lnSpc>
              <a:buNone/>
            </a:pPr>
            <a:r>
              <a:rPr lang="en-US" sz="1600" dirty="0">
                <a:solidFill>
                  <a:srgbClr val="111111"/>
                </a:solidFill>
              </a:rPr>
              <a:t>• Data Privacy and Security Concerns</a:t>
            </a:r>
            <a:endParaRPr lang="en-US" sz="1600" dirty="0"/>
          </a:p>
          <a:p>
            <a:pPr indent="0" marL="0">
              <a:lnSpc>
                <a:spcPts val="1800"/>
              </a:lnSpc>
              <a:buNone/>
            </a:pPr>
            <a:r>
              <a:rPr lang="en-US" sz="1600" dirty="0">
                <a:solidFill>
                  <a:srgbClr val="111111"/>
                </a:solidFill>
              </a:rPr>
              <a:t>• Regulatory Approval Processes</a:t>
            </a:r>
            <a:endParaRPr lang="en-US" sz="1600" dirty="0"/>
          </a:p>
          <a:p>
            <a:pPr indent="0" marL="0">
              <a:lnSpc>
                <a:spcPts val="1800"/>
              </a:lnSpc>
              <a:buNone/>
            </a:pPr>
            <a:r>
              <a:rPr lang="en-US" sz="1600" dirty="0">
                <a:solidFill>
                  <a:srgbClr val="111111"/>
                </a:solidFill>
              </a:rPr>
              <a:t>• Ethical Implications and Bias</a:t>
            </a:r>
            <a:endParaRPr lang="en-US" sz="1600" dirty="0"/>
          </a:p>
          <a:p>
            <a:pPr indent="0" marL="0">
              <a:lnSpc>
                <a:spcPts val="1800"/>
              </a:lnSpc>
              <a:buNone/>
            </a:pPr>
            <a:r>
              <a:rPr lang="en-US" sz="1600" dirty="0">
                <a:solidFill>
                  <a:srgbClr val="111111"/>
                </a:solidFill>
              </a:rPr>
              <a:t>• Integration with Existing Systems</a:t>
            </a:r>
            <a:endParaRPr lang="en-US" sz="1600" dirty="0"/>
          </a:p>
          <a:p>
            <a:pPr indent="0" marL="0">
              <a:lnSpc>
                <a:spcPts val="1800"/>
              </a:lnSpc>
              <a:buNone/>
            </a:pPr>
            <a:r>
              <a:rPr lang="en-US" sz="1600" dirty="0">
                <a:solidFill>
                  <a:srgbClr val="111111"/>
                </a:solidFill>
              </a:rPr>
              <a:t>• Workforce Training and Adoption</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2025-11-01T19:01:10Z</dcterms:created>
  <dcterms:modified xsi:type="dcterms:W3CDTF">2025-11-01T19:01:10Z</dcterms:modified>
</cp:coreProperties>
</file>