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5F7FA"/>
        </a:solidFill>
      </p:bgPr>
    </p:bg>
    <p:spTree>
      <p:nvGrpSpPr>
        <p:cNvPr id="1" name=""/>
        <p:cNvGrpSpPr/>
        <p:nvPr/>
      </p:nvGrpSpPr>
      <p:grpSpPr>
        <a:xfrm>
          <a:off x="0" y="0"/>
          <a:ext cx="0" cy="0"/>
          <a:chOff x="0" y="0"/>
          <a:chExt cx="0" cy="0"/>
        </a:xfrm>
      </p:grpSpPr>
      <p:sp>
        <p:nvSpPr>
          <p:cNvPr id="2" name="Text 0"/>
          <p:cNvSpPr/>
          <p:nvPr/>
        </p:nvSpPr>
        <p:spPr>
          <a:xfrm>
            <a:off x="457200" y="2286000"/>
            <a:ext cx="8229600" cy="0"/>
          </a:xfrm>
          <a:prstGeom prst="rect">
            <a:avLst/>
          </a:prstGeom>
          <a:noFill/>
          <a:ln/>
        </p:spPr>
        <p:txBody>
          <a:bodyPr wrap="square" rtlCol="0" anchor="ctr"/>
          <a:lstStyle/>
          <a:p>
            <a:pPr algn="ctr" indent="0" marL="0">
              <a:buNone/>
            </a:pPr>
            <a:r>
              <a:rPr lang="en-US" sz="4000" b="1" dirty="0">
                <a:solidFill>
                  <a:srgbClr val="003366"/>
                </a:solidFill>
              </a:rPr>
              <a:t>AI in Healthcare</a:t>
            </a:r>
            <a:endParaRPr lang="en-US" sz="4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0"/>
          </a:xfrm>
          <a:prstGeom prst="rect">
            <a:avLst/>
          </a:prstGeom>
          <a:noFill/>
          <a:ln/>
        </p:spPr>
        <p:txBody>
          <a:bodyPr wrap="square" rtlCol="0" anchor="ctr"/>
          <a:lstStyle/>
          <a:p>
            <a:pPr algn="ctr" indent="0" marL="0">
              <a:buNone/>
            </a:pPr>
            <a:r>
              <a:rPr lang="en-US" sz="2600" b="1" dirty="0">
                <a:solidFill>
                  <a:srgbClr val="003366"/>
                </a:solidFill>
              </a:rPr>
              <a:t>Introduction to AI in Healthcare</a:t>
            </a:r>
            <a:endParaRPr lang="en-US" sz="2600" dirty="0"/>
          </a:p>
        </p:txBody>
      </p:sp>
      <p:sp>
        <p:nvSpPr>
          <p:cNvPr id="3" name="Text 1"/>
          <p:cNvSpPr/>
          <p:nvPr/>
        </p:nvSpPr>
        <p:spPr>
          <a:xfrm>
            <a:off x="640080" y="1280160"/>
            <a:ext cx="7772400" cy="0"/>
          </a:xfrm>
          <a:prstGeom prst="rect">
            <a:avLst/>
          </a:prstGeom>
          <a:noFill/>
          <a:ln/>
        </p:spPr>
        <p:txBody>
          <a:bodyPr wrap="square" rtlCol="0" anchor="ctr"/>
          <a:lstStyle/>
          <a:p>
            <a:pPr indent="0" marL="0">
              <a:buNone/>
            </a:pPr>
            <a:r>
              <a:rPr lang="en-US" sz="2000" b="1" dirty="0">
                <a:solidFill>
                  <a:srgbClr val="0055A5"/>
                </a:solidFill>
              </a:rPr>
              <a:t>Transforming Patient Care</a:t>
            </a:r>
            <a:endParaRPr lang="en-US" sz="2000" dirty="0"/>
          </a:p>
        </p:txBody>
      </p:sp>
      <p:sp>
        <p:nvSpPr>
          <p:cNvPr id="4" name="Text 2"/>
          <p:cNvSpPr/>
          <p:nvPr/>
        </p:nvSpPr>
        <p:spPr>
          <a:xfrm>
            <a:off x="640080" y="2011680"/>
            <a:ext cx="7772400" cy="1371600"/>
          </a:xfrm>
          <a:prstGeom prst="rect">
            <a:avLst/>
          </a:prstGeom>
          <a:noFill/>
          <a:ln/>
        </p:spPr>
        <p:txBody>
          <a:bodyPr wrap="square" rtlCol="0" anchor="t">
            <a:spAutoFit/>
          </a:bodyPr>
          <a:lstStyle/>
          <a:p>
            <a:pPr indent="0" marL="0">
              <a:lnSpc>
                <a:spcPts val="2400"/>
              </a:lnSpc>
              <a:buNone/>
            </a:pPr>
            <a:r>
              <a:rPr lang="en-US" sz="1600" dirty="0">
                <a:solidFill>
                  <a:srgbClr val="333333"/>
                </a:solidFill>
              </a:rPr>
              <a:t>Artificial Intelligence (AI) is revolutionizing the healthcare industry by offering advanced tools and techniques to improve diagnostics, treatment, and patient outcomes. Its ability to analyze vast amounts of data, identify patterns, and make predictions is opening new frontiers in medical research and practice.</a:t>
            </a:r>
            <a:endParaRPr lang="en-US" sz="1600" dirty="0"/>
          </a:p>
        </p:txBody>
      </p:sp>
      <p:sp>
        <p:nvSpPr>
          <p:cNvPr id="5" name="Text 3"/>
          <p:cNvSpPr/>
          <p:nvPr/>
        </p:nvSpPr>
        <p:spPr>
          <a:xfrm>
            <a:off x="822960" y="3657600"/>
            <a:ext cx="6858000" cy="1737360"/>
          </a:xfrm>
          <a:prstGeom prst="rect">
            <a:avLst/>
          </a:prstGeom>
          <a:noFill/>
          <a:ln/>
        </p:spPr>
        <p:txBody>
          <a:bodyPr wrap="square" rtlCol="0" anchor="ctr">
            <a:spAutoFit/>
          </a:bodyPr>
          <a:lstStyle/>
          <a:p>
            <a:pPr marL="342900" indent="-342900">
              <a:lnSpc>
                <a:spcPts val="2000"/>
              </a:lnSpc>
              <a:buSzPct val="100000"/>
              <a:buChar char="•"/>
            </a:pPr>
            <a:r>
              <a:rPr lang="en-US" sz="1600" dirty="0">
                <a:solidFill>
                  <a:srgbClr val="111111"/>
                </a:solidFill>
              </a:rPr>
              <a:t>• Enhanced diagnostic accuracy</a:t>
            </a:r>
            <a:endParaRPr lang="en-US" sz="1600" dirty="0"/>
          </a:p>
          <a:p>
            <a:pPr marL="342900" indent="-342900">
              <a:lnSpc>
                <a:spcPts val="2000"/>
              </a:lnSpc>
              <a:buSzPct val="100000"/>
              <a:buChar char="•"/>
            </a:pPr>
            <a:r>
              <a:rPr lang="en-US" sz="1600" dirty="0">
                <a:solidFill>
                  <a:srgbClr val="111111"/>
                </a:solidFill>
              </a:rPr>
              <a:t>• Personalized treatment plans</a:t>
            </a:r>
            <a:endParaRPr lang="en-US" sz="1600" dirty="0"/>
          </a:p>
          <a:p>
            <a:pPr marL="342900" indent="-342900">
              <a:lnSpc>
                <a:spcPts val="2000"/>
              </a:lnSpc>
              <a:buSzPct val="100000"/>
              <a:buChar char="•"/>
            </a:pPr>
            <a:r>
              <a:rPr lang="en-US" sz="1600" dirty="0">
                <a:solidFill>
                  <a:srgbClr val="111111"/>
                </a:solidFill>
              </a:rPr>
              <a:t>• Streamlined administrative tasks</a:t>
            </a:r>
            <a:endParaRPr lang="en-US" sz="1600" dirty="0"/>
          </a:p>
          <a:p>
            <a:pPr marL="342900" indent="-342900">
              <a:lnSpc>
                <a:spcPts val="2000"/>
              </a:lnSpc>
              <a:buSzPct val="100000"/>
              <a:buChar char="•"/>
            </a:pPr>
            <a:r>
              <a:rPr lang="en-US" sz="1600" dirty="0">
                <a:solidFill>
                  <a:srgbClr val="111111"/>
                </a:solidFill>
              </a:rPr>
              <a:t>• Accelerated drug discovery</a:t>
            </a:r>
            <a:endParaRPr lang="en-US" sz="1600" dirty="0"/>
          </a:p>
        </p:txBody>
      </p:sp>
      <p:sp>
        <p:nvSpPr>
          <p:cNvPr id="6" name="Text 4"/>
          <p:cNvSpPr/>
          <p:nvPr/>
        </p:nvSpPr>
        <p:spPr>
          <a:xfrm>
            <a:off x="457200" y="6217920"/>
            <a:ext cx="8229600" cy="0"/>
          </a:xfrm>
          <a:prstGeom prst="rect">
            <a:avLst/>
          </a:prstGeom>
          <a:noFill/>
          <a:ln/>
        </p:spPr>
        <p:txBody>
          <a:bodyPr wrap="square" rtlCol="0" anchor="ctr"/>
          <a:lstStyle/>
          <a:p>
            <a:pPr algn="ctr" indent="0" marL="0">
              <a:buNone/>
            </a:pPr>
            <a:r>
              <a:rPr lang="en-US" sz="1000" dirty="0">
                <a:solidFill>
                  <a:srgbClr val="777777"/>
                </a:solidFill>
              </a:rPr>
              <a:t>Generated by AI Slide Generator</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0"/>
          </a:xfrm>
          <a:prstGeom prst="rect">
            <a:avLst/>
          </a:prstGeom>
          <a:noFill/>
          <a:ln/>
        </p:spPr>
        <p:txBody>
          <a:bodyPr wrap="square" rtlCol="0" anchor="ctr"/>
          <a:lstStyle/>
          <a:p>
            <a:pPr algn="ctr" indent="0" marL="0">
              <a:buNone/>
            </a:pPr>
            <a:r>
              <a:rPr lang="en-US" sz="2600" b="1" dirty="0">
                <a:solidFill>
                  <a:srgbClr val="003366"/>
                </a:solidFill>
              </a:rPr>
              <a:t>AI for Diagnostics and Imaging</a:t>
            </a:r>
            <a:endParaRPr lang="en-US" sz="2600" dirty="0"/>
          </a:p>
        </p:txBody>
      </p:sp>
      <p:sp>
        <p:nvSpPr>
          <p:cNvPr id="3" name="Text 1"/>
          <p:cNvSpPr/>
          <p:nvPr/>
        </p:nvSpPr>
        <p:spPr>
          <a:xfrm>
            <a:off x="640080" y="1280160"/>
            <a:ext cx="7772400" cy="0"/>
          </a:xfrm>
          <a:prstGeom prst="rect">
            <a:avLst/>
          </a:prstGeom>
          <a:noFill/>
          <a:ln/>
        </p:spPr>
        <p:txBody>
          <a:bodyPr wrap="square" rtlCol="0" anchor="ctr"/>
          <a:lstStyle/>
          <a:p>
            <a:pPr indent="0" marL="0">
              <a:buNone/>
            </a:pPr>
            <a:r>
              <a:rPr lang="en-US" sz="2000" b="1" dirty="0">
                <a:solidFill>
                  <a:srgbClr val="0055A5"/>
                </a:solidFill>
              </a:rPr>
              <a:t>Seeing Beyond the Human Eye</a:t>
            </a:r>
            <a:endParaRPr lang="en-US" sz="2000" dirty="0"/>
          </a:p>
        </p:txBody>
      </p:sp>
      <p:sp>
        <p:nvSpPr>
          <p:cNvPr id="4" name="Text 2"/>
          <p:cNvSpPr/>
          <p:nvPr/>
        </p:nvSpPr>
        <p:spPr>
          <a:xfrm>
            <a:off x="640080" y="2011680"/>
            <a:ext cx="7772400" cy="1371600"/>
          </a:xfrm>
          <a:prstGeom prst="rect">
            <a:avLst/>
          </a:prstGeom>
          <a:noFill/>
          <a:ln/>
        </p:spPr>
        <p:txBody>
          <a:bodyPr wrap="square" rtlCol="0" anchor="t">
            <a:spAutoFit/>
          </a:bodyPr>
          <a:lstStyle/>
          <a:p>
            <a:pPr indent="0" marL="0">
              <a:lnSpc>
                <a:spcPts val="2400"/>
              </a:lnSpc>
              <a:buNone/>
            </a:pPr>
            <a:r>
              <a:rPr lang="en-US" sz="1600" dirty="0">
                <a:solidFill>
                  <a:srgbClr val="333333"/>
                </a:solidFill>
              </a:rPr>
              <a:t>AI algorithms are proving exceptionally adept at analyzing medical images such as X-rays, CT scans, and MRIs. These systems can detect subtle anomalies that might be missed by human radiologists, leading to earlier and more accurate diagnoses of conditions like cancer, diabetic retinopathy, and cardiovascular diseases.</a:t>
            </a:r>
            <a:endParaRPr lang="en-US" sz="1600" dirty="0"/>
          </a:p>
        </p:txBody>
      </p:sp>
      <p:sp>
        <p:nvSpPr>
          <p:cNvPr id="5" name="Text 3"/>
          <p:cNvSpPr/>
          <p:nvPr/>
        </p:nvSpPr>
        <p:spPr>
          <a:xfrm>
            <a:off x="822960" y="3657600"/>
            <a:ext cx="6858000" cy="1737360"/>
          </a:xfrm>
          <a:prstGeom prst="rect">
            <a:avLst/>
          </a:prstGeom>
          <a:noFill/>
          <a:ln/>
        </p:spPr>
        <p:txBody>
          <a:bodyPr wrap="square" rtlCol="0" anchor="ctr">
            <a:spAutoFit/>
          </a:bodyPr>
          <a:lstStyle/>
          <a:p>
            <a:pPr marL="342900" indent="-342900">
              <a:lnSpc>
                <a:spcPts val="2000"/>
              </a:lnSpc>
              <a:buSzPct val="100000"/>
              <a:buChar char="•"/>
            </a:pPr>
            <a:r>
              <a:rPr lang="en-US" sz="1600" dirty="0">
                <a:solidFill>
                  <a:srgbClr val="111111"/>
                </a:solidFill>
              </a:rPr>
              <a:t>• Early detection of diseases</a:t>
            </a:r>
            <a:endParaRPr lang="en-US" sz="1600" dirty="0"/>
          </a:p>
          <a:p>
            <a:pPr marL="342900" indent="-342900">
              <a:lnSpc>
                <a:spcPts val="2000"/>
              </a:lnSpc>
              <a:buSzPct val="100000"/>
              <a:buChar char="•"/>
            </a:pPr>
            <a:r>
              <a:rPr lang="en-US" sz="1600" dirty="0">
                <a:solidFill>
                  <a:srgbClr val="111111"/>
                </a:solidFill>
              </a:rPr>
              <a:t>• Improved accuracy in image interpretation</a:t>
            </a:r>
            <a:endParaRPr lang="en-US" sz="1600" dirty="0"/>
          </a:p>
          <a:p>
            <a:pPr marL="342900" indent="-342900">
              <a:lnSpc>
                <a:spcPts val="2000"/>
              </a:lnSpc>
              <a:buSzPct val="100000"/>
              <a:buChar char="•"/>
            </a:pPr>
            <a:r>
              <a:rPr lang="en-US" sz="1600" dirty="0">
                <a:solidFill>
                  <a:srgbClr val="111111"/>
                </a:solidFill>
              </a:rPr>
              <a:t>• Reduced radiologist workload</a:t>
            </a:r>
            <a:endParaRPr lang="en-US" sz="1600" dirty="0"/>
          </a:p>
          <a:p>
            <a:pPr marL="342900" indent="-342900">
              <a:lnSpc>
                <a:spcPts val="2000"/>
              </a:lnSpc>
              <a:buSzPct val="100000"/>
              <a:buChar char="•"/>
            </a:pPr>
            <a:r>
              <a:rPr lang="en-US" sz="1600" dirty="0">
                <a:solidFill>
                  <a:srgbClr val="111111"/>
                </a:solidFill>
              </a:rPr>
              <a:t>• Identification of rare conditions</a:t>
            </a:r>
            <a:endParaRPr lang="en-US" sz="1600" dirty="0"/>
          </a:p>
        </p:txBody>
      </p:sp>
      <p:sp>
        <p:nvSpPr>
          <p:cNvPr id="6" name="Text 4"/>
          <p:cNvSpPr/>
          <p:nvPr/>
        </p:nvSpPr>
        <p:spPr>
          <a:xfrm>
            <a:off x="457200" y="6217920"/>
            <a:ext cx="8229600" cy="0"/>
          </a:xfrm>
          <a:prstGeom prst="rect">
            <a:avLst/>
          </a:prstGeom>
          <a:noFill/>
          <a:ln/>
        </p:spPr>
        <p:txBody>
          <a:bodyPr wrap="square" rtlCol="0" anchor="ctr"/>
          <a:lstStyle/>
          <a:p>
            <a:pPr algn="ctr" indent="0" marL="0">
              <a:buNone/>
            </a:pPr>
            <a:r>
              <a:rPr lang="en-US" sz="1000" dirty="0">
                <a:solidFill>
                  <a:srgbClr val="777777"/>
                </a:solidFill>
              </a:rPr>
              <a:t>Generated by AI Slide Generator</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0"/>
          </a:xfrm>
          <a:prstGeom prst="rect">
            <a:avLst/>
          </a:prstGeom>
          <a:noFill/>
          <a:ln/>
        </p:spPr>
        <p:txBody>
          <a:bodyPr wrap="square" rtlCol="0" anchor="ctr"/>
          <a:lstStyle/>
          <a:p>
            <a:pPr algn="ctr" indent="0" marL="0">
              <a:buNone/>
            </a:pPr>
            <a:r>
              <a:rPr lang="en-US" sz="2600" b="1" dirty="0">
                <a:solidFill>
                  <a:srgbClr val="003366"/>
                </a:solidFill>
              </a:rPr>
              <a:t>Personalized Medicine and Treatment</a:t>
            </a:r>
            <a:endParaRPr lang="en-US" sz="2600" dirty="0"/>
          </a:p>
        </p:txBody>
      </p:sp>
      <p:sp>
        <p:nvSpPr>
          <p:cNvPr id="3" name="Text 1"/>
          <p:cNvSpPr/>
          <p:nvPr/>
        </p:nvSpPr>
        <p:spPr>
          <a:xfrm>
            <a:off x="640080" y="1280160"/>
            <a:ext cx="7772400" cy="0"/>
          </a:xfrm>
          <a:prstGeom prst="rect">
            <a:avLst/>
          </a:prstGeom>
          <a:noFill/>
          <a:ln/>
        </p:spPr>
        <p:txBody>
          <a:bodyPr wrap="square" rtlCol="0" anchor="ctr"/>
          <a:lstStyle/>
          <a:p>
            <a:pPr indent="0" marL="0">
              <a:buNone/>
            </a:pPr>
            <a:r>
              <a:rPr lang="en-US" sz="2000" b="1" dirty="0">
                <a:solidFill>
                  <a:srgbClr val="0055A5"/>
                </a:solidFill>
              </a:rPr>
              <a:t>Tailoring Treatments to the Individual</a:t>
            </a:r>
            <a:endParaRPr lang="en-US" sz="2000" dirty="0"/>
          </a:p>
        </p:txBody>
      </p:sp>
      <p:sp>
        <p:nvSpPr>
          <p:cNvPr id="4" name="Text 2"/>
          <p:cNvSpPr/>
          <p:nvPr/>
        </p:nvSpPr>
        <p:spPr>
          <a:xfrm>
            <a:off x="640080" y="2011680"/>
            <a:ext cx="7772400" cy="1371600"/>
          </a:xfrm>
          <a:prstGeom prst="rect">
            <a:avLst/>
          </a:prstGeom>
          <a:noFill/>
          <a:ln/>
        </p:spPr>
        <p:txBody>
          <a:bodyPr wrap="square" rtlCol="0" anchor="t">
            <a:spAutoFit/>
          </a:bodyPr>
          <a:lstStyle/>
          <a:p>
            <a:pPr indent="0" marL="0">
              <a:lnSpc>
                <a:spcPts val="2400"/>
              </a:lnSpc>
              <a:buNone/>
            </a:pPr>
            <a:r>
              <a:rPr lang="en-US" sz="1600" dirty="0">
                <a:solidFill>
                  <a:srgbClr val="333333"/>
                </a:solidFill>
              </a:rPr>
              <a:t>AI enables a shift towards personalized medicine by analyzing a patient's genetic makeup, lifestyle, and medical history to predict their response to different treatments. This allows healthcare providers to create highly customized treatment plans, optimizing efficacy and minimizing adverse side effects.</a:t>
            </a:r>
            <a:endParaRPr lang="en-US" sz="1600" dirty="0"/>
          </a:p>
        </p:txBody>
      </p:sp>
      <p:sp>
        <p:nvSpPr>
          <p:cNvPr id="5" name="Text 3"/>
          <p:cNvSpPr/>
          <p:nvPr/>
        </p:nvSpPr>
        <p:spPr>
          <a:xfrm>
            <a:off x="822960" y="3657600"/>
            <a:ext cx="6858000" cy="1737360"/>
          </a:xfrm>
          <a:prstGeom prst="rect">
            <a:avLst/>
          </a:prstGeom>
          <a:noFill/>
          <a:ln/>
        </p:spPr>
        <p:txBody>
          <a:bodyPr wrap="square" rtlCol="0" anchor="ctr">
            <a:spAutoFit/>
          </a:bodyPr>
          <a:lstStyle/>
          <a:p>
            <a:pPr marL="342900" indent="-342900">
              <a:lnSpc>
                <a:spcPts val="2000"/>
              </a:lnSpc>
              <a:buSzPct val="100000"/>
              <a:buChar char="•"/>
            </a:pPr>
            <a:r>
              <a:rPr lang="en-US" sz="1600" dirty="0">
                <a:solidFill>
                  <a:srgbClr val="111111"/>
                </a:solidFill>
              </a:rPr>
              <a:t>• Predicting drug efficacy</a:t>
            </a:r>
            <a:endParaRPr lang="en-US" sz="1600" dirty="0"/>
          </a:p>
          <a:p>
            <a:pPr marL="342900" indent="-342900">
              <a:lnSpc>
                <a:spcPts val="2000"/>
              </a:lnSpc>
              <a:buSzPct val="100000"/>
              <a:buChar char="•"/>
            </a:pPr>
            <a:r>
              <a:rPr lang="en-US" sz="1600" dirty="0">
                <a:solidFill>
                  <a:srgbClr val="111111"/>
                </a:solidFill>
              </a:rPr>
              <a:t>• Optimizing dosage recommendations</a:t>
            </a:r>
            <a:endParaRPr lang="en-US" sz="1600" dirty="0"/>
          </a:p>
          <a:p>
            <a:pPr marL="342900" indent="-342900">
              <a:lnSpc>
                <a:spcPts val="2000"/>
              </a:lnSpc>
              <a:buSzPct val="100000"/>
              <a:buChar char="•"/>
            </a:pPr>
            <a:r>
              <a:rPr lang="en-US" sz="1600" dirty="0">
                <a:solidFill>
                  <a:srgbClr val="111111"/>
                </a:solidFill>
              </a:rPr>
              <a:t>• Identifying genetic predispositions</a:t>
            </a:r>
            <a:endParaRPr lang="en-US" sz="1600" dirty="0"/>
          </a:p>
          <a:p>
            <a:pPr marL="342900" indent="-342900">
              <a:lnSpc>
                <a:spcPts val="2000"/>
              </a:lnSpc>
              <a:buSzPct val="100000"/>
              <a:buChar char="•"/>
            </a:pPr>
            <a:r>
              <a:rPr lang="en-US" sz="1600" dirty="0">
                <a:solidFill>
                  <a:srgbClr val="111111"/>
                </a:solidFill>
              </a:rPr>
              <a:t>• Developing targeted therapies</a:t>
            </a:r>
            <a:endParaRPr lang="en-US" sz="1600" dirty="0"/>
          </a:p>
        </p:txBody>
      </p:sp>
      <p:sp>
        <p:nvSpPr>
          <p:cNvPr id="6" name="Text 4"/>
          <p:cNvSpPr/>
          <p:nvPr/>
        </p:nvSpPr>
        <p:spPr>
          <a:xfrm>
            <a:off x="457200" y="6217920"/>
            <a:ext cx="8229600" cy="0"/>
          </a:xfrm>
          <a:prstGeom prst="rect">
            <a:avLst/>
          </a:prstGeom>
          <a:noFill/>
          <a:ln/>
        </p:spPr>
        <p:txBody>
          <a:bodyPr wrap="square" rtlCol="0" anchor="ctr"/>
          <a:lstStyle/>
          <a:p>
            <a:pPr algn="ctr" indent="0" marL="0">
              <a:buNone/>
            </a:pPr>
            <a:r>
              <a:rPr lang="en-US" sz="1000" dirty="0">
                <a:solidFill>
                  <a:srgbClr val="777777"/>
                </a:solidFill>
              </a:rPr>
              <a:t>Generated by AI Slide Generator</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0"/>
          </a:xfrm>
          <a:prstGeom prst="rect">
            <a:avLst/>
          </a:prstGeom>
          <a:noFill/>
          <a:ln/>
        </p:spPr>
        <p:txBody>
          <a:bodyPr wrap="square" rtlCol="0" anchor="ctr"/>
          <a:lstStyle/>
          <a:p>
            <a:pPr algn="ctr" indent="0" marL="0">
              <a:buNone/>
            </a:pPr>
            <a:r>
              <a:rPr lang="en-US" sz="2600" b="1" dirty="0">
                <a:solidFill>
                  <a:srgbClr val="003366"/>
                </a:solidFill>
              </a:rPr>
              <a:t>AI in Drug Discovery and Development</a:t>
            </a:r>
            <a:endParaRPr lang="en-US" sz="2600" dirty="0"/>
          </a:p>
        </p:txBody>
      </p:sp>
      <p:sp>
        <p:nvSpPr>
          <p:cNvPr id="3" name="Text 1"/>
          <p:cNvSpPr/>
          <p:nvPr/>
        </p:nvSpPr>
        <p:spPr>
          <a:xfrm>
            <a:off x="640080" y="1280160"/>
            <a:ext cx="7772400" cy="0"/>
          </a:xfrm>
          <a:prstGeom prst="rect">
            <a:avLst/>
          </a:prstGeom>
          <a:noFill/>
          <a:ln/>
        </p:spPr>
        <p:txBody>
          <a:bodyPr wrap="square" rtlCol="0" anchor="ctr"/>
          <a:lstStyle/>
          <a:p>
            <a:pPr indent="0" marL="0">
              <a:buNone/>
            </a:pPr>
            <a:r>
              <a:rPr lang="en-US" sz="2000" b="1" dirty="0">
                <a:solidFill>
                  <a:srgbClr val="0055A5"/>
                </a:solidFill>
              </a:rPr>
              <a:t>Accelerating Innovation in Pharmaceuticals</a:t>
            </a:r>
            <a:endParaRPr lang="en-US" sz="2000" dirty="0"/>
          </a:p>
        </p:txBody>
      </p:sp>
      <p:sp>
        <p:nvSpPr>
          <p:cNvPr id="4" name="Text 2"/>
          <p:cNvSpPr/>
          <p:nvPr/>
        </p:nvSpPr>
        <p:spPr>
          <a:xfrm>
            <a:off x="640080" y="2011680"/>
            <a:ext cx="7772400" cy="1371600"/>
          </a:xfrm>
          <a:prstGeom prst="rect">
            <a:avLst/>
          </a:prstGeom>
          <a:noFill/>
          <a:ln/>
        </p:spPr>
        <p:txBody>
          <a:bodyPr wrap="square" rtlCol="0" anchor="t">
            <a:spAutoFit/>
          </a:bodyPr>
          <a:lstStyle/>
          <a:p>
            <a:pPr indent="0" marL="0">
              <a:lnSpc>
                <a:spcPts val="2400"/>
              </a:lnSpc>
              <a:buNone/>
            </a:pPr>
            <a:r>
              <a:rPr lang="en-US" sz="1600" dirty="0">
                <a:solidFill>
                  <a:srgbClr val="333333"/>
                </a:solidFill>
              </a:rPr>
              <a:t>The process of discovering and developing new drugs is notoriously long and expensive. AI can significantly expedite this by analyzing vast biological and chemical datasets to identify potential drug candidates, predict their effectiveness, and even design novel molecular structures. This speeds up research and reduces the cost of bringing life-saving medications to market.</a:t>
            </a:r>
            <a:endParaRPr lang="en-US" sz="1600" dirty="0"/>
          </a:p>
        </p:txBody>
      </p:sp>
      <p:sp>
        <p:nvSpPr>
          <p:cNvPr id="5" name="Text 3"/>
          <p:cNvSpPr/>
          <p:nvPr/>
        </p:nvSpPr>
        <p:spPr>
          <a:xfrm>
            <a:off x="822960" y="3657600"/>
            <a:ext cx="6858000" cy="1737360"/>
          </a:xfrm>
          <a:prstGeom prst="rect">
            <a:avLst/>
          </a:prstGeom>
          <a:noFill/>
          <a:ln/>
        </p:spPr>
        <p:txBody>
          <a:bodyPr wrap="square" rtlCol="0" anchor="ctr">
            <a:spAutoFit/>
          </a:bodyPr>
          <a:lstStyle/>
          <a:p>
            <a:pPr marL="342900" indent="-342900">
              <a:lnSpc>
                <a:spcPts val="2000"/>
              </a:lnSpc>
              <a:buSzPct val="100000"/>
              <a:buChar char="•"/>
            </a:pPr>
            <a:r>
              <a:rPr lang="en-US" sz="1600" dirty="0">
                <a:solidFill>
                  <a:srgbClr val="111111"/>
                </a:solidFill>
              </a:rPr>
              <a:t>• Identifying novel drug targets</a:t>
            </a:r>
            <a:endParaRPr lang="en-US" sz="1600" dirty="0"/>
          </a:p>
          <a:p>
            <a:pPr marL="342900" indent="-342900">
              <a:lnSpc>
                <a:spcPts val="2000"/>
              </a:lnSpc>
              <a:buSzPct val="100000"/>
              <a:buChar char="•"/>
            </a:pPr>
            <a:r>
              <a:rPr lang="en-US" sz="1600" dirty="0">
                <a:solidFill>
                  <a:srgbClr val="111111"/>
                </a:solidFill>
              </a:rPr>
              <a:t>• Predicting compound interactions</a:t>
            </a:r>
            <a:endParaRPr lang="en-US" sz="1600" dirty="0"/>
          </a:p>
          <a:p>
            <a:pPr marL="342900" indent="-342900">
              <a:lnSpc>
                <a:spcPts val="2000"/>
              </a:lnSpc>
              <a:buSzPct val="100000"/>
              <a:buChar char="•"/>
            </a:pPr>
            <a:r>
              <a:rPr lang="en-US" sz="1600" dirty="0">
                <a:solidFill>
                  <a:srgbClr val="111111"/>
                </a:solidFill>
              </a:rPr>
              <a:t>• Designing new molecular structures</a:t>
            </a:r>
            <a:endParaRPr lang="en-US" sz="1600" dirty="0"/>
          </a:p>
          <a:p>
            <a:pPr marL="342900" indent="-342900">
              <a:lnSpc>
                <a:spcPts val="2000"/>
              </a:lnSpc>
              <a:buSzPct val="100000"/>
              <a:buChar char="•"/>
            </a:pPr>
            <a:r>
              <a:rPr lang="en-US" sz="1600" dirty="0">
                <a:solidFill>
                  <a:srgbClr val="111111"/>
                </a:solidFill>
              </a:rPr>
              <a:t>• Streamlining clinical trial design</a:t>
            </a:r>
            <a:endParaRPr lang="en-US" sz="1600" dirty="0"/>
          </a:p>
        </p:txBody>
      </p:sp>
      <p:sp>
        <p:nvSpPr>
          <p:cNvPr id="6" name="Text 4"/>
          <p:cNvSpPr/>
          <p:nvPr/>
        </p:nvSpPr>
        <p:spPr>
          <a:xfrm>
            <a:off x="457200" y="6217920"/>
            <a:ext cx="8229600" cy="0"/>
          </a:xfrm>
          <a:prstGeom prst="rect">
            <a:avLst/>
          </a:prstGeom>
          <a:noFill/>
          <a:ln/>
        </p:spPr>
        <p:txBody>
          <a:bodyPr wrap="square" rtlCol="0" anchor="ctr"/>
          <a:lstStyle/>
          <a:p>
            <a:pPr algn="ctr" indent="0" marL="0">
              <a:buNone/>
            </a:pPr>
            <a:r>
              <a:rPr lang="en-US" sz="1000" dirty="0">
                <a:solidFill>
                  <a:srgbClr val="777777"/>
                </a:solidFill>
              </a:rPr>
              <a:t>Generated by AI Slide Generator</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457200" y="457200"/>
            <a:ext cx="8229600" cy="0"/>
          </a:xfrm>
          <a:prstGeom prst="rect">
            <a:avLst/>
          </a:prstGeom>
          <a:noFill/>
          <a:ln/>
        </p:spPr>
        <p:txBody>
          <a:bodyPr wrap="square" rtlCol="0" anchor="ctr"/>
          <a:lstStyle/>
          <a:p>
            <a:pPr algn="ctr" indent="0" marL="0">
              <a:buNone/>
            </a:pPr>
            <a:r>
              <a:rPr lang="en-US" sz="2600" b="1" dirty="0">
                <a:solidFill>
                  <a:srgbClr val="003366"/>
                </a:solidFill>
              </a:rPr>
              <a:t>Challenges and Future of AI in Healthcare</a:t>
            </a:r>
            <a:endParaRPr lang="en-US" sz="2600" dirty="0"/>
          </a:p>
        </p:txBody>
      </p:sp>
      <p:sp>
        <p:nvSpPr>
          <p:cNvPr id="3" name="Text 1"/>
          <p:cNvSpPr/>
          <p:nvPr/>
        </p:nvSpPr>
        <p:spPr>
          <a:xfrm>
            <a:off x="640080" y="1280160"/>
            <a:ext cx="7772400" cy="0"/>
          </a:xfrm>
          <a:prstGeom prst="rect">
            <a:avLst/>
          </a:prstGeom>
          <a:noFill/>
          <a:ln/>
        </p:spPr>
        <p:txBody>
          <a:bodyPr wrap="square" rtlCol="0" anchor="ctr"/>
          <a:lstStyle/>
          <a:p>
            <a:pPr indent="0" marL="0">
              <a:buNone/>
            </a:pPr>
            <a:r>
              <a:rPr lang="en-US" sz="2000" b="1" dirty="0">
                <a:solidFill>
                  <a:srgbClr val="0055A5"/>
                </a:solidFill>
              </a:rPr>
              <a:t>Navigating the Path Forward</a:t>
            </a:r>
            <a:endParaRPr lang="en-US" sz="2000" dirty="0"/>
          </a:p>
        </p:txBody>
      </p:sp>
      <p:sp>
        <p:nvSpPr>
          <p:cNvPr id="4" name="Text 2"/>
          <p:cNvSpPr/>
          <p:nvPr/>
        </p:nvSpPr>
        <p:spPr>
          <a:xfrm>
            <a:off x="640080" y="2011680"/>
            <a:ext cx="7772400" cy="1371600"/>
          </a:xfrm>
          <a:prstGeom prst="rect">
            <a:avLst/>
          </a:prstGeom>
          <a:noFill/>
          <a:ln/>
        </p:spPr>
        <p:txBody>
          <a:bodyPr wrap="square" rtlCol="0" anchor="t">
            <a:spAutoFit/>
          </a:bodyPr>
          <a:lstStyle/>
          <a:p>
            <a:pPr indent="0" marL="0">
              <a:lnSpc>
                <a:spcPts val="2400"/>
              </a:lnSpc>
              <a:buNone/>
            </a:pPr>
            <a:r>
              <a:rPr lang="en-US" sz="1600" dirty="0">
                <a:solidFill>
                  <a:srgbClr val="333333"/>
                </a:solidFill>
              </a:rPr>
              <a:t>While the potential of AI in healthcare is immense, several challenges need to be addressed, including data privacy, regulatory hurdles, ethical considerations, and the need for robust validation. However, as these challenges are overcome, AI is poised to further transform healthcare, leading to more accessible, efficient, and effective medical care for everyone.</a:t>
            </a:r>
            <a:endParaRPr lang="en-US" sz="1600" dirty="0"/>
          </a:p>
        </p:txBody>
      </p:sp>
      <p:sp>
        <p:nvSpPr>
          <p:cNvPr id="5" name="Text 3"/>
          <p:cNvSpPr/>
          <p:nvPr/>
        </p:nvSpPr>
        <p:spPr>
          <a:xfrm>
            <a:off x="822960" y="3657600"/>
            <a:ext cx="6858000" cy="1737360"/>
          </a:xfrm>
          <a:prstGeom prst="rect">
            <a:avLst/>
          </a:prstGeom>
          <a:noFill/>
          <a:ln/>
        </p:spPr>
        <p:txBody>
          <a:bodyPr wrap="square" rtlCol="0" anchor="ctr">
            <a:spAutoFit/>
          </a:bodyPr>
          <a:lstStyle/>
          <a:p>
            <a:pPr marL="342900" indent="-342900">
              <a:lnSpc>
                <a:spcPts val="2000"/>
              </a:lnSpc>
              <a:buSzPct val="100000"/>
              <a:buChar char="•"/>
            </a:pPr>
            <a:r>
              <a:rPr lang="en-US" sz="1600" dirty="0">
                <a:solidFill>
                  <a:srgbClr val="111111"/>
                </a:solidFill>
              </a:rPr>
              <a:t>• Ensuring data security and privacy</a:t>
            </a:r>
            <a:endParaRPr lang="en-US" sz="1600" dirty="0"/>
          </a:p>
          <a:p>
            <a:pPr marL="342900" indent="-342900">
              <a:lnSpc>
                <a:spcPts val="2000"/>
              </a:lnSpc>
              <a:buSzPct val="100000"/>
              <a:buChar char="•"/>
            </a:pPr>
            <a:r>
              <a:rPr lang="en-US" sz="1600" dirty="0">
                <a:solidFill>
                  <a:srgbClr val="111111"/>
                </a:solidFill>
              </a:rPr>
              <a:t>• Addressing regulatory frameworks</a:t>
            </a:r>
            <a:endParaRPr lang="en-US" sz="1600" dirty="0"/>
          </a:p>
          <a:p>
            <a:pPr marL="342900" indent="-342900">
              <a:lnSpc>
                <a:spcPts val="2000"/>
              </a:lnSpc>
              <a:buSzPct val="100000"/>
              <a:buChar char="•"/>
            </a:pPr>
            <a:r>
              <a:rPr lang="en-US" sz="1600" dirty="0">
                <a:solidFill>
                  <a:srgbClr val="111111"/>
                </a:solidFill>
              </a:rPr>
              <a:t>• Promoting ethical AI development</a:t>
            </a:r>
            <a:endParaRPr lang="en-US" sz="1600" dirty="0"/>
          </a:p>
          <a:p>
            <a:pPr marL="342900" indent="-342900">
              <a:lnSpc>
                <a:spcPts val="2000"/>
              </a:lnSpc>
              <a:buSzPct val="100000"/>
              <a:buChar char="•"/>
            </a:pPr>
            <a:r>
              <a:rPr lang="en-US" sz="1600" dirty="0">
                <a:solidFill>
                  <a:srgbClr val="111111"/>
                </a:solidFill>
              </a:rPr>
              <a:t>• Fostering clinician adoption and trust</a:t>
            </a:r>
            <a:endParaRPr lang="en-US" sz="1600" dirty="0"/>
          </a:p>
        </p:txBody>
      </p:sp>
      <p:sp>
        <p:nvSpPr>
          <p:cNvPr id="6" name="Text 4"/>
          <p:cNvSpPr/>
          <p:nvPr/>
        </p:nvSpPr>
        <p:spPr>
          <a:xfrm>
            <a:off x="457200" y="6217920"/>
            <a:ext cx="8229600" cy="0"/>
          </a:xfrm>
          <a:prstGeom prst="rect">
            <a:avLst/>
          </a:prstGeom>
          <a:noFill/>
          <a:ln/>
        </p:spPr>
        <p:txBody>
          <a:bodyPr wrap="square" rtlCol="0" anchor="ctr"/>
          <a:lstStyle/>
          <a:p>
            <a:pPr algn="ctr" indent="0" marL="0">
              <a:buNone/>
            </a:pPr>
            <a:r>
              <a:rPr lang="en-US" sz="1000" dirty="0">
                <a:solidFill>
                  <a:srgbClr val="777777"/>
                </a:solidFill>
              </a:rPr>
              <a:t>Generated by AI Slide Generator</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2025-11-01T19:03:45Z</dcterms:created>
  <dcterms:modified xsi:type="dcterms:W3CDTF">2025-11-01T19:03:45Z</dcterms:modified>
</cp:coreProperties>
</file>